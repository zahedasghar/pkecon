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7592" y="1177379"/>
            <a:ext cx="6528816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1800"/>
              </a:spcAft>
              <a:buNone/>
            </a:pPr>
            <a:r>
              <a:rPr lang="en-US" sz="4200" b="1" dirty="0">
                <a:solidFill>
                  <a:srgbClr val="003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Pakistan International Airlines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254853" y="2685901"/>
            <a:ext cx="463429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Aft>
                <a:spcPts val="2400"/>
              </a:spcAft>
              <a:buNone/>
            </a:pPr>
            <a:r>
              <a:rPr lang="en-US" sz="30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 Privatization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07592" y="3486001"/>
            <a:ext cx="652881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2025 - A New Era Begins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19779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3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96280"/>
            <a:ext cx="8229600" cy="540990"/>
          </a:xfrm>
          <a:prstGeom prst="roundRect">
            <a:avLst>
              <a:gd name="adj" fmla="val 14085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196280"/>
            <a:ext cx="0" cy="54099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8650" y="1329630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Rs135 Billion Deal</a:t>
            </a:r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Pakistan's largest privatization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851571"/>
            <a:ext cx="8229600" cy="540990"/>
          </a:xfrm>
          <a:prstGeom prst="roundRect">
            <a:avLst>
              <a:gd name="adj" fmla="val 14085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1851571"/>
            <a:ext cx="0" cy="54099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8650" y="1984921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Stake</a:t>
            </a:r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sold to Arif Habib Consortium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2506861"/>
            <a:ext cx="8229600" cy="540990"/>
          </a:xfrm>
          <a:prstGeom prst="roundRect">
            <a:avLst>
              <a:gd name="adj" fmla="val 14085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6250" y="2506861"/>
            <a:ext cx="0" cy="54099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650" y="2640211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Rs660 Billion Debt</a:t>
            </a:r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3162151"/>
            <a:ext cx="8229600" cy="540990"/>
          </a:xfrm>
          <a:prstGeom prst="roundRect">
            <a:avLst>
              <a:gd name="adj" fmla="val 14085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6250" y="3162151"/>
            <a:ext cx="0" cy="54099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650" y="3295501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Chapter</a:t>
            </a:r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End of interference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090922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900"/>
              </a:spcAft>
              <a:buNone/>
            </a:pPr>
            <a:r>
              <a:rPr lang="en-US" sz="3600" b="1" dirty="0">
                <a:solidFill>
                  <a:srgbClr val="003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Decade of Losses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58180"/>
            <a:ext cx="8229600" cy="228600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577530"/>
            <a:ext cx="2667000" cy="990302"/>
          </a:xfrm>
          <a:prstGeom prst="roundRect">
            <a:avLst>
              <a:gd name="adj" fmla="val 7695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3577530"/>
            <a:ext cx="0" cy="990302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3691830"/>
            <a:ext cx="24483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Loss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3905101"/>
            <a:ext cx="244830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Rs108B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600" y="4270772"/>
            <a:ext cx="244830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FY2022-23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38500" y="3577530"/>
            <a:ext cx="2667000" cy="990302"/>
          </a:xfrm>
          <a:prstGeom prst="roundRect">
            <a:avLst>
              <a:gd name="adj" fmla="val 7695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57550" y="3577530"/>
            <a:ext cx="0" cy="990302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0900" y="3691830"/>
            <a:ext cx="24483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Losses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90900" y="3905101"/>
            <a:ext cx="244830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Rs500B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90900" y="4270772"/>
            <a:ext cx="244830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2015-2024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19800" y="3577530"/>
            <a:ext cx="2667000" cy="990302"/>
          </a:xfrm>
          <a:prstGeom prst="roundRect">
            <a:avLst>
              <a:gd name="adj" fmla="val 7695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38850" y="3577530"/>
            <a:ext cx="0" cy="990302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691830"/>
            <a:ext cx="24483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Equity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72200" y="3905101"/>
            <a:ext cx="244830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-Rs649B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4270772"/>
            <a:ext cx="244830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Mid-2023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432358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003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Balance Sheet Overhaul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10580"/>
            <a:ext cx="3962400" cy="2575322"/>
          </a:xfrm>
          <a:prstGeom prst="roundRect">
            <a:avLst>
              <a:gd name="adj" fmla="val 2959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310580"/>
            <a:ext cx="0" cy="257532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3900" y="1539180"/>
            <a:ext cx="3536442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(2022)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23900" y="2057251"/>
            <a:ext cx="35364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Assets:</a:t>
            </a:r>
            <a:pPr algn="l" indent="0" marL="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Rs800+ billion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3900" y="2438251"/>
            <a:ext cx="35364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Liabilities:</a:t>
            </a:r>
            <a:pPr algn="l" indent="0" marL="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Rs800+ billion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3900" y="2819251"/>
            <a:ext cx="3536442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Equity:</a:t>
            </a:r>
            <a:pPr algn="l" indent="0" marL="0">
              <a:lnSpc>
                <a:spcPts val="28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-Rs375B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3900" y="3337322"/>
            <a:ext cx="353644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Costs:</a:t>
            </a:r>
            <a:pPr algn="l" indent="0" marL="0">
              <a:lnSpc>
                <a:spcPts val="192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Rs79B/year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4400" y="1310580"/>
            <a:ext cx="3962400" cy="2575322"/>
          </a:xfrm>
          <a:prstGeom prst="roundRect">
            <a:avLst>
              <a:gd name="adj" fmla="val 2959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43450" y="1310580"/>
            <a:ext cx="0" cy="257532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1100" y="1539180"/>
            <a:ext cx="3536442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(2023)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91100" y="2057251"/>
            <a:ext cx="35364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Assets:</a:t>
            </a:r>
            <a:pPr algn="l" indent="0" marL="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Rs191 billion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91100" y="2438251"/>
            <a:ext cx="35364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Liabilities:</a:t>
            </a:r>
            <a:pPr algn="l" indent="0" marL="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Rs182 billion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91100" y="2819251"/>
            <a:ext cx="3536442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Equity:</a:t>
            </a:r>
            <a:pPr algn="l" indent="0" marL="0">
              <a:lnSpc>
                <a:spcPts val="28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+Rs9B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91100" y="3337322"/>
            <a:ext cx="353644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Costs:</a:t>
            </a:r>
            <a:pPr algn="l" indent="0" marL="0">
              <a:lnSpc>
                <a:spcPts val="192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Rs10B/year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076402"/>
            <a:ext cx="8229600" cy="639961"/>
          </a:xfrm>
          <a:prstGeom prst="roundRect">
            <a:avLst>
              <a:gd name="adj" fmla="val 11907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0352" y="4228802"/>
            <a:ext cx="80832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16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Rs660 Billion</a:t>
            </a:r>
            <a:pPr algn="ctr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carved out to PIA Holding Company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79542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900"/>
              </a:spcAft>
              <a:buNone/>
            </a:pPr>
            <a:r>
              <a:rPr lang="en-US" sz="3600" b="1" dirty="0">
                <a:solidFill>
                  <a:srgbClr val="003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Workforce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58180"/>
            <a:ext cx="8229600" cy="1905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215580"/>
            <a:ext cx="1985963" cy="982712"/>
          </a:xfrm>
          <a:prstGeom prst="roundRect">
            <a:avLst>
              <a:gd name="adj" fmla="val 7754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3215580"/>
            <a:ext cx="0" cy="982712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3310830"/>
            <a:ext cx="179251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0550" y="3531691"/>
            <a:ext cx="179251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0550" y="3935462"/>
            <a:ext cx="179251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emp/aircraft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538413" y="3215580"/>
            <a:ext cx="1985963" cy="982712"/>
          </a:xfrm>
          <a:prstGeom prst="roundRect">
            <a:avLst>
              <a:gd name="adj" fmla="val 775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57463" y="3215580"/>
            <a:ext cx="0" cy="982712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1763" y="3310830"/>
            <a:ext cx="179251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Emirates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71763" y="3531691"/>
            <a:ext cx="179251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71763" y="3935462"/>
            <a:ext cx="179251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emp/aircraft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19625" y="3215580"/>
            <a:ext cx="1985963" cy="982712"/>
          </a:xfrm>
          <a:prstGeom prst="roundRect">
            <a:avLst>
              <a:gd name="adj" fmla="val 775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38675" y="3215580"/>
            <a:ext cx="0" cy="982712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2975" y="3310830"/>
            <a:ext cx="179251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India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2975" y="3531691"/>
            <a:ext cx="179251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2975" y="3935462"/>
            <a:ext cx="179251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emp/aircraft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700838" y="3215580"/>
            <a:ext cx="1985963" cy="982712"/>
          </a:xfrm>
          <a:prstGeom prst="roundRect">
            <a:avLst>
              <a:gd name="adj" fmla="val 775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719888" y="3215580"/>
            <a:ext cx="0" cy="982712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4188" y="3310830"/>
            <a:ext cx="179251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Turkish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34188" y="3531691"/>
            <a:ext cx="179251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34188" y="3935462"/>
            <a:ext cx="179251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emp/aircraft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74904" y="4331643"/>
            <a:ext cx="839419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~7,000 employees</a:t>
            </a:r>
            <a:pPr algn="ctr" indent="0" marL="0">
              <a:lnSpc>
                <a:spcPts val="1920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12-month retention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17975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900"/>
              </a:spcAft>
              <a:buNone/>
            </a:pPr>
            <a:r>
              <a:rPr lang="en-US" sz="3600" b="1" dirty="0">
                <a:solidFill>
                  <a:srgbClr val="003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Profitability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58180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Profitable Routes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501080"/>
            <a:ext cx="3962400" cy="1190625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025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East:</a:t>
            </a:r>
            <a:pPr algn="l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Dubai, Jeddah, Medina</a:t>
            </a:r>
            <a:endParaRPr lang="en-US" sz="1350" dirty="0"/>
          </a:p>
          <a:p>
            <a:pPr algn="l" marL="152400" indent="-152400">
              <a:lnSpc>
                <a:spcPts val="2025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UK:</a:t>
            </a:r>
            <a:pPr algn="l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London, Manchester</a:t>
            </a:r>
            <a:endParaRPr lang="en-US" sz="1350" dirty="0"/>
          </a:p>
          <a:p>
            <a:pPr algn="l" marL="152400" indent="-152400">
              <a:lnSpc>
                <a:spcPts val="2025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Domestic:</a:t>
            </a:r>
            <a:pPr algn="l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 trunk routes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844105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High Potential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87005"/>
            <a:ext cx="3962400" cy="7810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02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York, Toronto</a:t>
            </a:r>
            <a:endParaRPr lang="en-US" sz="1350" dirty="0"/>
          </a:p>
          <a:p>
            <a:pPr algn="l" marL="152400" indent="-152400">
              <a:lnSpc>
                <a:spcPts val="202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Paris, Frankfurt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24400" y="1158180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Loss-Making (Cut)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24400" y="1501080"/>
            <a:ext cx="3962400" cy="16002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02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Dhaka (Bangladesh)</a:t>
            </a:r>
            <a:endParaRPr lang="en-US" sz="1350" dirty="0"/>
          </a:p>
          <a:p>
            <a:pPr algn="l" marL="152400" indent="-152400">
              <a:lnSpc>
                <a:spcPts val="202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Bangkok (Thailand)</a:t>
            </a:r>
            <a:endParaRPr lang="en-US" sz="1350" dirty="0"/>
          </a:p>
          <a:p>
            <a:pPr algn="l" marL="152400" indent="-152400">
              <a:lnSpc>
                <a:spcPts val="202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Najaf (Iraq)</a:t>
            </a:r>
            <a:endParaRPr lang="en-US" sz="1350" dirty="0"/>
          </a:p>
          <a:p>
            <a:pPr algn="l" marL="152400" indent="-152400">
              <a:lnSpc>
                <a:spcPts val="202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cities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24400" y="3253680"/>
            <a:ext cx="3962400" cy="822871"/>
          </a:xfrm>
          <a:prstGeom prst="roundRect">
            <a:avLst>
              <a:gd name="adj" fmla="val 9260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43450" y="3253680"/>
            <a:ext cx="0" cy="822871"/>
          </a:xfrm>
          <a:prstGeom prst="line">
            <a:avLst/>
          </a:prstGeom>
          <a:noFill/>
          <a:ln w="38100">
            <a:solidFill>
              <a:srgbClr val="003D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5850" y="3387030"/>
            <a:ext cx="37307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Landing Slots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5850" y="3729930"/>
            <a:ext cx="3730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airports globally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10203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003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Privatize? The Drivers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380"/>
            <a:ext cx="4019550" cy="1173361"/>
          </a:xfrm>
          <a:prstGeom prst="roundRect">
            <a:avLst>
              <a:gd name="adj" fmla="val 6494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234380"/>
            <a:ext cx="0" cy="117336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24880"/>
            <a:ext cx="3672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 Fiscal Burden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729680"/>
            <a:ext cx="367245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Rs40 billion annual losses draining public finances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7250" y="1234380"/>
            <a:ext cx="4019550" cy="1173361"/>
          </a:xfrm>
          <a:prstGeom prst="roundRect">
            <a:avLst>
              <a:gd name="adj" fmla="val 6494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86300" y="1234380"/>
            <a:ext cx="0" cy="117336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5850" y="1424880"/>
            <a:ext cx="3672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🌍 IMF Mandate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5850" y="1729680"/>
            <a:ext cx="367245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benchmark under $7 billion IMF program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98241"/>
            <a:ext cx="4019550" cy="1173361"/>
          </a:xfrm>
          <a:prstGeom prst="roundRect">
            <a:avLst>
              <a:gd name="adj" fmla="val 649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" y="2598241"/>
            <a:ext cx="0" cy="117336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88741"/>
            <a:ext cx="3672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Political Interference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093541"/>
            <a:ext cx="36724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Decades of mismanagement, nepotism, and cronyism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7250" y="2598241"/>
            <a:ext cx="4019550" cy="1173361"/>
          </a:xfrm>
          <a:prstGeom prst="roundRect">
            <a:avLst>
              <a:gd name="adj" fmla="val 649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86300" y="2598241"/>
            <a:ext cx="0" cy="117336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5850" y="2788741"/>
            <a:ext cx="3672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✈️ Strategic Necessity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5850" y="3093541"/>
            <a:ext cx="367245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 needs a viable, competitive flag carrier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97433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900"/>
              </a:spcAft>
              <a:buNone/>
            </a:pPr>
            <a:r>
              <a:rPr lang="en-US" sz="3600" b="1" dirty="0">
                <a:solidFill>
                  <a:srgbClr val="003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Deal 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96280"/>
            <a:ext cx="4038600" cy="1325612"/>
          </a:xfrm>
          <a:prstGeom prst="roundRect">
            <a:avLst>
              <a:gd name="adj" fmla="val 5748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196280"/>
            <a:ext cx="0" cy="1325612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7700" y="1348680"/>
            <a:ext cx="376961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Value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7700" y="1630561"/>
            <a:ext cx="376961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Rs135B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7700" y="2156222"/>
            <a:ext cx="37696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75% stake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48200" y="1196280"/>
            <a:ext cx="4038600" cy="1325612"/>
          </a:xfrm>
          <a:prstGeom prst="roundRect">
            <a:avLst>
              <a:gd name="adj" fmla="val 5748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67250" y="1196280"/>
            <a:ext cx="0" cy="1325612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8700" y="1348680"/>
            <a:ext cx="376961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Retains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38700" y="1630561"/>
            <a:ext cx="376961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38700" y="2156222"/>
            <a:ext cx="37696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Minority stake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674293"/>
            <a:ext cx="8229600" cy="1642021"/>
          </a:xfrm>
          <a:prstGeom prst="roundRect">
            <a:avLst>
              <a:gd name="adj" fmla="val 4641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6250" y="2674293"/>
            <a:ext cx="0" cy="164202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64793"/>
            <a:ext cx="796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Breakdown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226743"/>
            <a:ext cx="39056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to Government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85800" y="3493443"/>
            <a:ext cx="390563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Rs10.2B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85800" y="3927723"/>
            <a:ext cx="390563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7.5%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667250" y="3226743"/>
            <a:ext cx="39056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into PIA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667250" y="3493443"/>
            <a:ext cx="390563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Rs124.8B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4667250" y="3927723"/>
            <a:ext cx="390563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92.5% reinvested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8023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003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Winning Consortium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72480"/>
            <a:ext cx="8229600" cy="2194173"/>
          </a:xfrm>
          <a:prstGeom prst="roundRect">
            <a:avLst>
              <a:gd name="adj" fmla="val 3473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272480"/>
            <a:ext cx="0" cy="2194173"/>
          </a:xfrm>
          <a:prstGeom prst="line">
            <a:avLst/>
          </a:prstGeom>
          <a:noFill/>
          <a:ln w="38100">
            <a:solidFill>
              <a:srgbClr val="003D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3900" y="1501080"/>
            <a:ext cx="788898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003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Arif Habib Consortium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23900" y="2057251"/>
            <a:ext cx="386676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Lead:</a:t>
            </a:r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Arif Habib Corporation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3900" y="2339132"/>
            <a:ext cx="38667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(Finance &amp; Investment)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7250" y="2057251"/>
            <a:ext cx="386676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Partner:</a:t>
            </a:r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Fatima Fertilizer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7250" y="2339132"/>
            <a:ext cx="38667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(Major Manufacturer)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3900" y="2742902"/>
            <a:ext cx="386676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Partner:</a:t>
            </a:r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City Schools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3900" y="3024783"/>
            <a:ext cx="38667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(Education Group)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7250" y="2742902"/>
            <a:ext cx="386676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Partner:</a:t>
            </a:r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Lake City Holdings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7250" y="3024783"/>
            <a:ext cx="38667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(Real Estate)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657154"/>
            <a:ext cx="2641550" cy="1279922"/>
          </a:xfrm>
          <a:prstGeom prst="roundRect">
            <a:avLst>
              <a:gd name="adj" fmla="val 595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6250" y="3657154"/>
            <a:ext cx="0" cy="1279922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47654"/>
            <a:ext cx="226689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Bid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4099024"/>
            <a:ext cx="226689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Rs135B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251150" y="3657154"/>
            <a:ext cx="2641550" cy="1279922"/>
          </a:xfrm>
          <a:prstGeom prst="roundRect">
            <a:avLst>
              <a:gd name="adj" fmla="val 5953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270200" y="3657154"/>
            <a:ext cx="0" cy="1279922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9750" y="3847654"/>
            <a:ext cx="226689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79750" y="4099024"/>
            <a:ext cx="226689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Rs134B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479750" y="4563814"/>
            <a:ext cx="226689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Lucky Cement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45101" y="3657154"/>
            <a:ext cx="2641699" cy="1279922"/>
          </a:xfrm>
          <a:prstGeom prst="roundRect">
            <a:avLst>
              <a:gd name="adj" fmla="val 5953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064151" y="3657154"/>
            <a:ext cx="0" cy="1279922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3701" y="3847654"/>
            <a:ext cx="22670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Auction Date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73701" y="4099024"/>
            <a:ext cx="22670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23, 2025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73701" y="4441924"/>
            <a:ext cx="226705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TV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3166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900"/>
              </a:spcAft>
              <a:buNone/>
            </a:pPr>
            <a:r>
              <a:rPr lang="en-US" sz="3600" b="1" dirty="0">
                <a:solidFill>
                  <a:srgbClr val="003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 &amp; Incentives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96280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3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Commitments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539180"/>
            <a:ext cx="3962400" cy="1196280"/>
          </a:xfrm>
          <a:prstGeom prst="roundRect">
            <a:avLst>
              <a:gd name="adj" fmla="val 637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1539180"/>
            <a:ext cx="0" cy="119628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50" y="1672530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Investment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28650" y="1939230"/>
            <a:ext cx="373075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Rs116B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28650" y="2404021"/>
            <a:ext cx="373075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fleet renewal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57200" y="2868811"/>
            <a:ext cx="3962400" cy="110490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0550" y="3040261"/>
            <a:ext cx="3769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</a:t>
            </a:r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Rs83.25B upfront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90550" y="3306961"/>
            <a:ext cx="3769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</a:t>
            </a:r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Rs41.6B in 12 months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90550" y="3573661"/>
            <a:ext cx="3769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8-10 new aircraft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724400" y="1196280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Incentives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24400" y="1558230"/>
            <a:ext cx="3962400" cy="16002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025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years</a:t>
            </a:r>
            <a:pPr algn="l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tax exemption on dividends</a:t>
            </a:r>
            <a:endParaRPr lang="en-US" sz="1350" dirty="0"/>
          </a:p>
          <a:p>
            <a:pPr algn="l" marL="152400" indent="-152400">
              <a:lnSpc>
                <a:spcPts val="2025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taxes</a:t>
            </a:r>
            <a:pPr algn="l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aviation fuel</a:t>
            </a:r>
            <a:endParaRPr lang="en-US" sz="1350" dirty="0"/>
          </a:p>
          <a:p>
            <a:pPr algn="l" marL="152400" indent="-152400">
              <a:lnSpc>
                <a:spcPts val="2025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GST/duty exemptions</a:t>
            </a:r>
            <a:pPr algn="l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aircraft</a:t>
            </a:r>
            <a:endParaRPr lang="en-US" sz="1350" dirty="0"/>
          </a:p>
          <a:p>
            <a:pPr algn="l" marL="152400" indent="-152400">
              <a:lnSpc>
                <a:spcPts val="2025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03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Tax:</a:t>
            </a:r>
            <a:pPr algn="l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Rs26.6B over 5 years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24400" y="3310830"/>
            <a:ext cx="3962400" cy="45720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1362" y="3425130"/>
            <a:ext cx="380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Close: March-April 2026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900"/>
              </a:spcAft>
              <a:buNone/>
            </a:pPr>
            <a:r>
              <a:rPr lang="en-US" sz="3600" b="1" dirty="0">
                <a:solidFill>
                  <a:srgbClr val="003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Outlook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96280"/>
            <a:ext cx="4038600" cy="883890"/>
          </a:xfrm>
          <a:prstGeom prst="roundRect">
            <a:avLst>
              <a:gd name="adj" fmla="val 8621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1367730"/>
            <a:ext cx="376961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spcAft>
                <a:spcPts val="750"/>
              </a:spcAft>
              <a:buNone/>
            </a:pPr>
            <a:r>
              <a:rPr lang="en-US" sz="1425" b="1" dirty="0">
                <a:solidFill>
                  <a:srgbClr val="003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✈️ Fleet Modernization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628650" y="1680121"/>
            <a:ext cx="3769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aircraft for Europe &amp; North America routes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648200" y="1196280"/>
            <a:ext cx="4038600" cy="883890"/>
          </a:xfrm>
          <a:prstGeom prst="roundRect">
            <a:avLst>
              <a:gd name="adj" fmla="val 8621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19650" y="1367730"/>
            <a:ext cx="376961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spcAft>
                <a:spcPts val="750"/>
              </a:spcAft>
              <a:buNone/>
            </a:pPr>
            <a:r>
              <a:rPr lang="en-US" sz="1425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🌍 Route Expansion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4819650" y="1680121"/>
            <a:ext cx="3769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London, explore New York, add China flights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57200" y="2232571"/>
            <a:ext cx="4038600" cy="883890"/>
          </a:xfrm>
          <a:prstGeom prst="roundRect">
            <a:avLst>
              <a:gd name="adj" fmla="val 862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2404021"/>
            <a:ext cx="376961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spcAft>
                <a:spcPts val="750"/>
              </a:spcAft>
              <a:buNone/>
            </a:pPr>
            <a:r>
              <a:rPr lang="en-US" sz="1425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Efficiency Gains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628650" y="2716411"/>
            <a:ext cx="3769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employee-to-aircraft ratio to &lt;200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648200" y="2232571"/>
            <a:ext cx="4038600" cy="883890"/>
          </a:xfrm>
          <a:prstGeom prst="roundRect">
            <a:avLst>
              <a:gd name="adj" fmla="val 8621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9650" y="2404021"/>
            <a:ext cx="376961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spcAft>
                <a:spcPts val="750"/>
              </a:spcAft>
              <a:buNone/>
            </a:pPr>
            <a:r>
              <a:rPr lang="en-US" sz="1425" b="1" dirty="0">
                <a:solidFill>
                  <a:srgbClr val="DB2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 Service Quality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4819650" y="2716411"/>
            <a:ext cx="3769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management, improved customer experience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57200" y="3268861"/>
            <a:ext cx="8229600" cy="1070521"/>
          </a:xfrm>
          <a:prstGeom prst="roundRect">
            <a:avLst>
              <a:gd name="adj" fmla="val 7118"/>
            </a:avLst>
          </a:prstGeom>
          <a:solidFill>
            <a:srgbClr val="003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9783" y="3440311"/>
            <a:ext cx="804443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Return to Profitability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49783" y="3893641"/>
            <a:ext cx="804443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45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2-3 Years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866" y="666006"/>
            <a:ext cx="6878119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95"/>
              </a:lnSpc>
              <a:spcAft>
                <a:spcPts val="1800"/>
              </a:spcAft>
              <a:buNone/>
            </a:pPr>
            <a:r>
              <a:rPr lang="en-US" sz="31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"Pakistan's Air India Moment"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1200299" y="1414611"/>
            <a:ext cx="6743254" cy="525661"/>
          </a:xfrm>
          <a:prstGeom prst="roundRect">
            <a:avLst>
              <a:gd name="adj" fmla="val 1449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219349" y="1414611"/>
            <a:ext cx="0" cy="52566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749" y="1547961"/>
            <a:ext cx="6567223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Clean balance sheet with Rs660B debt removed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1200299" y="2054572"/>
            <a:ext cx="6743254" cy="525661"/>
          </a:xfrm>
          <a:prstGeom prst="roundRect">
            <a:avLst>
              <a:gd name="adj" fmla="val 14496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219349" y="2054572"/>
            <a:ext cx="0" cy="52566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749" y="2187922"/>
            <a:ext cx="6567223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Fresh capital: Rs125B for transformation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200299" y="2694533"/>
            <a:ext cx="6743254" cy="525661"/>
          </a:xfrm>
          <a:prstGeom prst="roundRect">
            <a:avLst>
              <a:gd name="adj" fmla="val 1449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219349" y="2694533"/>
            <a:ext cx="0" cy="52566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749" y="2827883"/>
            <a:ext cx="6567223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End of political interference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200299" y="3334494"/>
            <a:ext cx="6743254" cy="525661"/>
          </a:xfrm>
          <a:prstGeom prst="roundRect">
            <a:avLst>
              <a:gd name="adj" fmla="val 14496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219349" y="3334494"/>
            <a:ext cx="0" cy="52566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749" y="3467844"/>
            <a:ext cx="6567223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Opportunity to restore national pride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132866" y="4088755"/>
            <a:ext cx="687811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depends on execution and commitment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Pakistan International Airlines - Historic Privatization</dc:title>
  <dc:subject>PptxGenJS Presentation</dc:subject>
  <dc:creator>PIA Privatization Analysis</dc:creator>
  <cp:lastModifiedBy>PIA Privatization Analysis</cp:lastModifiedBy>
  <cp:revision>1</cp:revision>
  <dcterms:created xsi:type="dcterms:W3CDTF">2025-12-27T16:10:25Z</dcterms:created>
  <dcterms:modified xsi:type="dcterms:W3CDTF">2025-12-27T16:10:25Z</dcterms:modified>
</cp:coreProperties>
</file>