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</p:sldMasterIdLst>
  <p:notesMasterIdLst>
    <p:notesMasterId r:id="rId14"/>
  </p:notesMasterIdLst>
  <p:sldIdLst>
    <p:sldId id="27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-1224" y="9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Agriculture</c:v>
                </c:pt>
              </c:strCache>
            </c:strRef>
          </c:tx>
          <c:spPr>
            <a:solidFill>
              <a:srgbClr val="1A6B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E1F13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Q1 FY25</c:v>
                </c:pt>
                <c:pt idx="1">
                  <c:v>Q1 FY26</c:v>
                </c:pt>
                <c:pt idx="2">
                  <c:v>Q2 FY25</c:v>
                </c:pt>
                <c:pt idx="3">
                  <c:v>Q2 FY26</c:v>
                </c:pt>
                <c:pt idx="4">
                  <c:v>Q3 FY25</c:v>
                </c:pt>
                <c:pt idx="5">
                  <c:v>Q3 FY26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2.95</c:v>
                </c:pt>
                <c:pt idx="2">
                  <c:v>1.5</c:v>
                </c:pt>
                <c:pt idx="3">
                  <c:v>2.64</c:v>
                </c:pt>
                <c:pt idx="4">
                  <c:v>1.6</c:v>
                </c:pt>
                <c:pt idx="5">
                  <c:v>3.01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7F-49B8-933D-99E5EAB4AA9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Industry</c:v>
                </c:pt>
              </c:strCache>
            </c:strRef>
          </c:tx>
          <c:spPr>
            <a:solidFill>
              <a:srgbClr val="1D5F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E1F13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Q1 FY25</c:v>
                </c:pt>
                <c:pt idx="1">
                  <c:v>Q1 FY26</c:v>
                </c:pt>
                <c:pt idx="2">
                  <c:v>Q2 FY25</c:v>
                </c:pt>
                <c:pt idx="3">
                  <c:v>Q2 FY26</c:v>
                </c:pt>
                <c:pt idx="4">
                  <c:v>Q3 FY25</c:v>
                </c:pt>
                <c:pt idx="5">
                  <c:v>Q3 FY26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3.2</c:v>
                </c:pt>
                <c:pt idx="1">
                  <c:v>7.8</c:v>
                </c:pt>
                <c:pt idx="2">
                  <c:v>4.0999999999999996</c:v>
                </c:pt>
                <c:pt idx="3">
                  <c:v>6.68</c:v>
                </c:pt>
                <c:pt idx="4">
                  <c:v>3.9</c:v>
                </c:pt>
                <c:pt idx="5">
                  <c:v>4.6500000000000004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7F-49B8-933D-99E5EAB4AA9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Services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E1F13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Q1 FY25</c:v>
                </c:pt>
                <c:pt idx="1">
                  <c:v>Q1 FY26</c:v>
                </c:pt>
                <c:pt idx="2">
                  <c:v>Q2 FY25</c:v>
                </c:pt>
                <c:pt idx="3">
                  <c:v>Q2 FY26</c:v>
                </c:pt>
                <c:pt idx="4">
                  <c:v>Q3 FY25</c:v>
                </c:pt>
                <c:pt idx="5">
                  <c:v>Q3 FY26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2.8</c:v>
                </c:pt>
                <c:pt idx="1">
                  <c:v>3.16</c:v>
                </c:pt>
                <c:pt idx="2">
                  <c:v>3.5</c:v>
                </c:pt>
                <c:pt idx="3">
                  <c:v>3.83</c:v>
                </c:pt>
                <c:pt idx="4">
                  <c:v>3.1</c:v>
                </c:pt>
                <c:pt idx="5">
                  <c:v>4.18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E7F-49B8-933D-99E5EAB4AA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3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3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FY2025 (Jul–Apr)</c:v>
                </c:pt>
              </c:strCache>
            </c:strRef>
          </c:tx>
          <c:spPr>
            <a:solidFill>
              <a:srgbClr val="4A6355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Exports</c:v>
                </c:pt>
                <c:pt idx="1">
                  <c:v>Imports</c:v>
                </c:pt>
                <c:pt idx="2">
                  <c:v>Trade Deficit</c:v>
                </c:pt>
                <c:pt idx="3">
                  <c:v>Remittances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25.8</c:v>
                </c:pt>
                <c:pt idx="1">
                  <c:v>48.6</c:v>
                </c:pt>
                <c:pt idx="2">
                  <c:v>21.3</c:v>
                </c:pt>
                <c:pt idx="3">
                  <c:v>31.2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89-4404-A611-ED9C63EDBF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FY2026 (Jul–Apr)</c:v>
                </c:pt>
              </c:strCache>
            </c:strRef>
          </c:tx>
          <c:spPr>
            <a:solidFill>
              <a:srgbClr val="1A6B3C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Exports</c:v>
                </c:pt>
                <c:pt idx="1">
                  <c:v>Imports</c:v>
                </c:pt>
                <c:pt idx="2">
                  <c:v>Trade Deficit</c:v>
                </c:pt>
                <c:pt idx="3">
                  <c:v>Remittances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24.4</c:v>
                </c:pt>
                <c:pt idx="1">
                  <c:v>52.7</c:v>
                </c:pt>
                <c:pt idx="2">
                  <c:v>26.9</c:v>
                </c:pt>
                <c:pt idx="3">
                  <c:v>33.9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89-4404-A611-ED9C63EDBF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E1F1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3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B2818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B2818"/>
                </a:solidFill>
                <a:latin typeface="Arial"/>
              </a:rPr>
              <a:t>FBR Revenue (Rs Billion)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FBR Collection (Rs Bn)</c:v>
                </c:pt>
              </c:strCache>
            </c:strRef>
          </c:tx>
          <c:spPr>
            <a:solidFill>
              <a:srgbClr val="1A6B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FY2025
Jul–Apr</c:v>
                </c:pt>
                <c:pt idx="1">
                  <c:v>FY2026
Jul–Apr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9300</c:v>
                </c:pt>
                <c:pt idx="1">
                  <c:v>10262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3C-4D00-9D0E-E5E60495CE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E1F1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800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3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B2818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B2818"/>
                </a:solidFill>
                <a:latin typeface="Arial"/>
              </a:rPr>
              <a:t>Primary Surplus (Rs Billion)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 Surplus (Rs Bn)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FY25
Jul–Mar</c:v>
                </c:pt>
                <c:pt idx="1">
                  <c:v>FY26
Jul–Mar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3469</c:v>
                </c:pt>
                <c:pt idx="1">
                  <c:v>4092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7E-40F3-A1F0-82687CB85B9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E1F1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300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3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B2818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B2818"/>
                </a:solidFill>
                <a:latin typeface="Arial"/>
              </a:rPr>
              <a:t>CPI Inflation Journey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CPI Y-o-Y (%)</c:v>
                </c:pt>
              </c:strCache>
            </c:strRef>
          </c:tx>
          <c:spPr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PK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May-23</c:v>
                </c:pt>
                <c:pt idx="1">
                  <c:v>Jun-23</c:v>
                </c:pt>
                <c:pt idx="2">
                  <c:v>Dec-23</c:v>
                </c:pt>
                <c:pt idx="3">
                  <c:v>Jun-24</c:v>
                </c:pt>
                <c:pt idx="4">
                  <c:v>Dec-24</c:v>
                </c:pt>
                <c:pt idx="5">
                  <c:v>Jul-25</c:v>
                </c:pt>
                <c:pt idx="6">
                  <c:v>Oct-25</c:v>
                </c:pt>
                <c:pt idx="7">
                  <c:v>Jan-26</c:v>
                </c:pt>
                <c:pt idx="8">
                  <c:v>Apr-26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38</c:v>
                </c:pt>
                <c:pt idx="1">
                  <c:v>36.4</c:v>
                </c:pt>
                <c:pt idx="2">
                  <c:v>29.7</c:v>
                </c:pt>
                <c:pt idx="3">
                  <c:v>12.6</c:v>
                </c:pt>
                <c:pt idx="4">
                  <c:v>4.0999999999999996</c:v>
                </c:pt>
                <c:pt idx="5">
                  <c:v>4.5</c:v>
                </c:pt>
                <c:pt idx="6">
                  <c:v>6.9</c:v>
                </c:pt>
                <c:pt idx="7">
                  <c:v>7.8</c:v>
                </c:pt>
                <c:pt idx="8">
                  <c:v>10.9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750-4065-A2C8-716F7827F0A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3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3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B2818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B2818"/>
                </a:solidFill>
                <a:latin typeface="Arial"/>
              </a:rPr>
              <a:t>Major Crop Production (Million Tonnes)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FY2024–25</c:v>
                </c:pt>
              </c:strCache>
            </c:strRef>
          </c:tx>
          <c:spPr>
            <a:solidFill>
              <a:srgbClr val="4A635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Wheat
(mn T)</c:v>
                </c:pt>
                <c:pt idx="1">
                  <c:v>Rice
(mn T)</c:v>
                </c:pt>
                <c:pt idx="2">
                  <c:v>Sugarcane
(mn T)</c:v>
                </c:pt>
                <c:pt idx="3">
                  <c:v>Maize
(mn T)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28.4</c:v>
                </c:pt>
                <c:pt idx="1">
                  <c:v>9.6999999999999993</c:v>
                </c:pt>
                <c:pt idx="2">
                  <c:v>84.2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A2-4A19-9131-CCE3CB2152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FY2025–26 (P)</c:v>
                </c:pt>
              </c:strCache>
            </c:strRef>
          </c:tx>
          <c:spPr>
            <a:solidFill>
              <a:srgbClr val="1A6B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Wheat
(mn T)</c:v>
                </c:pt>
                <c:pt idx="1">
                  <c:v>Rice
(mn T)</c:v>
                </c:pt>
                <c:pt idx="2">
                  <c:v>Sugarcane
(mn T)</c:v>
                </c:pt>
                <c:pt idx="3">
                  <c:v>Maize
(mn T)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29.6</c:v>
                </c:pt>
                <c:pt idx="1">
                  <c:v>9.99</c:v>
                </c:pt>
                <c:pt idx="2">
                  <c:v>89.4</c:v>
                </c:pt>
                <c:pt idx="3">
                  <c:v>8.8000000000000007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2A2-4A19-9131-CCE3CB2152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E1F1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3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Exports (% GDP)</c:v>
                </c:pt>
              </c:strCache>
            </c:strRef>
          </c:tx>
          <c:spPr>
            <a:solidFill>
              <a:srgbClr val="1A6B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Pakistan</c:v>
                </c:pt>
                <c:pt idx="1">
                  <c:v>Bangladesh</c:v>
                </c:pt>
                <c:pt idx="2">
                  <c:v>India</c:v>
                </c:pt>
                <c:pt idx="3">
                  <c:v>Vietnam</c:v>
                </c:pt>
                <c:pt idx="4">
                  <c:v>Malaysia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15</c:v>
                </c:pt>
                <c:pt idx="2">
                  <c:v>22</c:v>
                </c:pt>
                <c:pt idx="3">
                  <c:v>87</c:v>
                </c:pt>
                <c:pt idx="4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75-46F2-9F42-743BAE328F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Tax Revenue (% GDP)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Pakistan</c:v>
                </c:pt>
                <c:pt idx="1">
                  <c:v>Bangladesh</c:v>
                </c:pt>
                <c:pt idx="2">
                  <c:v>India</c:v>
                </c:pt>
                <c:pt idx="3">
                  <c:v>Vietnam</c:v>
                </c:pt>
                <c:pt idx="4">
                  <c:v>Malaysia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</c:v>
                </c:pt>
                <c:pt idx="1">
                  <c:v>9</c:v>
                </c:pt>
                <c:pt idx="2">
                  <c:v>18</c:v>
                </c:pt>
                <c:pt idx="3">
                  <c:v>22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75-46F2-9F42-743BAE328F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E1F1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3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7092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1371600"/>
            <a:ext cx="457200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0" dirty="0">
                <a:solidFill>
                  <a:srgbClr val="1A6B3C">
                    <a:alpha val="1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₨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4864" cy="2743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ECONOMICS · QAU ISLAMABAD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627632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Pakistan Economy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57860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Salient Features &amp; Key Challenges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27355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Amanat Ali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GoP Finance Division · May 21, 2026  ·  ADB Pakistan Outlook April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2025–26  ·  Economy of Pakistan  ·  Spring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146073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ECONOMY AT A GLANCE — FY 2025–26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Economic Indicators  ·  Source: Finance Division, GoP (21 May 2026)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920240" cy="5486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411480" y="106984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GROWTH (FY26 P)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84048" y="128016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3.7%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18013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3.18% FY25 · Target 4.2%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77440" y="96012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2377440" y="960120"/>
            <a:ext cx="1920240" cy="54864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2514600" y="106984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FBR TAX COLLECTION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487168" y="128016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D5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10,262B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14600" y="18013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· Jul–Apr ↑10.3% YoY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80560" y="96012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4480560" y="960120"/>
            <a:ext cx="1920240" cy="5486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4617720" y="106984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BALANCE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90288" y="128016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4,092B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17720" y="18013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Surplus · 3.2% GDP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83680" y="96012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6583680" y="960120"/>
            <a:ext cx="1920240" cy="5486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6720840" y="106984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SBP FOREX RESERVES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93408" y="128016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$15.9B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720840" y="18013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↑ from $10.4B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42316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274320" y="2423160"/>
            <a:ext cx="1920240" cy="54864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411480" y="253288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REMITTANCES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4048" y="274320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D5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$33.9B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11480" y="32644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Jul–Apr ↑8.5% · Record pace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377440" y="242316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2377440" y="2423160"/>
            <a:ext cx="19202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2514600" y="253288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INFLATION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487168" y="274320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6.2%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2514600" y="32644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Jul–Apr avg · Was 38% peak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480560" y="242316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4480560" y="2423160"/>
            <a:ext cx="19202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4617720" y="253288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(GOODS)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90288" y="274320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$25.8B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4617720" y="32644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Jul–Apr ↓5.4% — Alarming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583680" y="242316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1" name="Shape 39"/>
          <p:cNvSpPr/>
          <p:nvPr/>
        </p:nvSpPr>
        <p:spPr>
          <a:xfrm>
            <a:off x="6583680" y="2423160"/>
            <a:ext cx="19202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Text 40"/>
          <p:cNvSpPr/>
          <p:nvPr/>
        </p:nvSpPr>
        <p:spPr>
          <a:xfrm>
            <a:off x="6720840" y="253288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DEFICIT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693408" y="274320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$26.9B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6720840" y="32644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↑26.3% — imports surging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B2818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6" name="Text 44"/>
          <p:cNvSpPr/>
          <p:nvPr/>
        </p:nvSpPr>
        <p:spPr>
          <a:xfrm>
            <a:off x="457200" y="39776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ADB CAUTION (Apr 2026): </a:t>
            </a: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growth forecast at 3.0% for FY26 — below government's 4.2% target and far short of the 6–7% needed to absorb 3–4 million annual labour market entrants.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GDP GROWTH TRAJECTORY — FY2026 QUARTERLY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Quarter-by-quarter real GDP growth (%) · FY2025 vs FY2026  ·  Source: Finance Division, GoP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1440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97880" y="914400"/>
            <a:ext cx="2971800" cy="15544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6035040" y="9875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Leads Recovery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35040" y="1298448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FY26: +7.8% — highest in 3 years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AF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FY26: +6.7%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AF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FY26: +4.7% (moderating)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97880" y="2606040"/>
            <a:ext cx="2971800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6035040" y="267004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Full-Year FY26 Projection: 3.7%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35040" y="298094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Provisional · ADB independent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forecast: 3.0% · Target: 4.2%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897880" y="3730752"/>
            <a:ext cx="2971800" cy="749808"/>
          </a:xfrm>
          <a:prstGeom prst="rect">
            <a:avLst/>
          </a:prstGeom>
          <a:solidFill>
            <a:srgbClr val="EAF3ED"/>
          </a:solidFill>
          <a:ln w="12700">
            <a:solidFill>
              <a:srgbClr val="CCE0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6035040" y="3767328"/>
            <a:ext cx="2724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Full Year: 3.18%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Agri: 1.53%  ·  Industry: 5.56%  ·  Services: 3.14%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 SECTOR — WIDENING VULNERABILITIES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Jul–Apr FY2026 vs FY2025  ·  Source: GoP Finance Division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1440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97880" y="914400"/>
            <a:ext cx="2971800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6035040" y="969264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Exports FELL 5.4%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35040" y="126187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$25.8B → $24.4B · April alone: ↓1.8%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897880" y="1828800"/>
            <a:ext cx="2971800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6035040" y="1883664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Imports ↑ 8.5%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35040" y="217627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$48.6B → $52.7B · April alone: ↑13.8%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897880" y="2743200"/>
            <a:ext cx="2971800" cy="8046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6035040" y="2798064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Remittances: Bright Spot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35040" y="309067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$33.9B · ↑8.5% · April: $3.5B ↑11.5%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97880" y="3657600"/>
            <a:ext cx="2971800" cy="80467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6035040" y="3712464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FDI Collapsed 30.8%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035040" y="400507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$2,035M → $1,409M · Deep confidence gap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Account swung from +$1.7B surplus (Jul–Apr FY25) to −$0.2B deficit (Jul–Apr FY26) — the export decline is the most urgent external sector challenge.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FISCAL SECTOR — STABILISATION PROGRESS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Jul–Mar FY2026 vs FY2025  ·  Source: GoP Finance Division</a:t>
            </a:r>
            <a:endParaRPr lang="en-US" sz="9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1440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663440" y="91440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65760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Shape 4"/>
          <p:cNvSpPr/>
          <p:nvPr/>
        </p:nvSpPr>
        <p:spPr>
          <a:xfrm>
            <a:off x="274320" y="3657600"/>
            <a:ext cx="1920240" cy="5486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5"/>
          <p:cNvSpPr/>
          <p:nvPr/>
        </p:nvSpPr>
        <p:spPr>
          <a:xfrm>
            <a:off x="411480" y="37673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DEFICIT (% GDP)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384048" y="397764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0.7%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411480" y="44988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Jul–Mar · Was 2.6% last year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2331720" y="365760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9"/>
          <p:cNvSpPr/>
          <p:nvPr/>
        </p:nvSpPr>
        <p:spPr>
          <a:xfrm>
            <a:off x="2331720" y="3657600"/>
            <a:ext cx="19202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0"/>
          <p:cNvSpPr/>
          <p:nvPr/>
        </p:nvSpPr>
        <p:spPr>
          <a:xfrm>
            <a:off x="2468880" y="37673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SURPLUS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2441448" y="397764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3.2%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2468880" y="44988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GDP · Target: 2.4%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389120" y="365760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4"/>
          <p:cNvSpPr/>
          <p:nvPr/>
        </p:nvSpPr>
        <p:spPr>
          <a:xfrm>
            <a:off x="4389120" y="3657600"/>
            <a:ext cx="19202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5"/>
          <p:cNvSpPr/>
          <p:nvPr/>
        </p:nvSpPr>
        <p:spPr>
          <a:xfrm>
            <a:off x="4526280" y="37673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DEBT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4498848" y="397764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70.7%</a:t>
            </a:r>
            <a:endParaRPr lang="en-US" sz="2800" dirty="0"/>
          </a:p>
        </p:txBody>
      </p:sp>
      <p:sp>
        <p:nvSpPr>
          <p:cNvPr id="21" name="Text 17"/>
          <p:cNvSpPr/>
          <p:nvPr/>
        </p:nvSpPr>
        <p:spPr>
          <a:xfrm>
            <a:off x="4526280" y="44988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GDP (Jun-25) · Rs 80,518B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6446520" y="365760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19"/>
          <p:cNvSpPr/>
          <p:nvPr/>
        </p:nvSpPr>
        <p:spPr>
          <a:xfrm>
            <a:off x="6446520" y="3657600"/>
            <a:ext cx="19202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0"/>
          <p:cNvSpPr/>
          <p:nvPr/>
        </p:nvSpPr>
        <p:spPr>
          <a:xfrm>
            <a:off x="6583680" y="37673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RATE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6556248" y="397764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11.5%</a:t>
            </a:r>
            <a:endParaRPr lang="en-US" sz="2800" dirty="0"/>
          </a:p>
        </p:txBody>
      </p:sp>
      <p:sp>
        <p:nvSpPr>
          <p:cNvPr id="26" name="Text 22"/>
          <p:cNvSpPr/>
          <p:nvPr/>
        </p:nvSpPr>
        <p:spPr>
          <a:xfrm>
            <a:off x="6583680" y="44988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 · Cut from 22% peak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INFLATION &amp; REAL SECTOR RECOVERY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trends and high-frequency activity indicators  ·  FY2026</a:t>
            </a:r>
            <a:endParaRPr lang="en-US" sz="9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14400"/>
          <a:ext cx="51206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960120"/>
            <a:ext cx="1554480" cy="89611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5742432" y="996696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+6.5%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724144" y="1362456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LSM Jul–Mar FY26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724144" y="1572768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−1.9% last yr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669280" y="1984248"/>
            <a:ext cx="1554480" cy="89611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5742432" y="202082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+51.8%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724144" y="2386584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Production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724144" y="2596896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131K units (Apr)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669280" y="3008376"/>
            <a:ext cx="1554480" cy="89611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5742432" y="304495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+32.6%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724144" y="3410712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2/3-Wheelers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724144" y="3621024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1.62M units (Apr)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406640" y="960120"/>
            <a:ext cx="1554480" cy="89611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/>
          <p:nvPr/>
        </p:nvSpPr>
        <p:spPr>
          <a:xfrm>
            <a:off x="7479792" y="996696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+9.8%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461504" y="1362456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Cement Dispatch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461504" y="1572768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42.4mn T (Apr)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406640" y="1984248"/>
            <a:ext cx="1554480" cy="8961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Text 20"/>
          <p:cNvSpPr/>
          <p:nvPr/>
        </p:nvSpPr>
        <p:spPr>
          <a:xfrm>
            <a:off x="7479792" y="202082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164,831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7461504" y="2386584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KSE-100 Index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461504" y="2596896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↑38.5% (May 2026)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7406640" y="3008376"/>
            <a:ext cx="1554480" cy="89611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Text 24"/>
          <p:cNvSpPr/>
          <p:nvPr/>
        </p:nvSpPr>
        <p:spPr>
          <a:xfrm>
            <a:off x="7479792" y="304495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+22.6%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7461504" y="3410712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Companies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461504" y="3621024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32K SECP registrations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274320" y="4069080"/>
            <a:ext cx="8595360" cy="658368"/>
          </a:xfrm>
          <a:prstGeom prst="rect">
            <a:avLst/>
          </a:prstGeom>
          <a:solidFill>
            <a:srgbClr val="FDF2F2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Text 28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CAUTION: </a:t>
            </a: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headline CPI is 6.2% (Jul–Apr avg), April YoY spiked to 10.9%. Core inflation (urban) reached 8.0% in April. Food inflation returned to 6.9%. The disinflationary trend may have reversed.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AGRICULTURE SECTOR — MIXED OUTCOMES FY26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crop data FY2025–26  ·  Source: GoP Finance Division</a:t>
            </a:r>
            <a:endParaRPr lang="en-US" sz="9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1440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932688"/>
            <a:ext cx="32461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4"/>
          <p:cNvSpPr/>
          <p:nvPr/>
        </p:nvSpPr>
        <p:spPr>
          <a:xfrm>
            <a:off x="5577840" y="932688"/>
            <a:ext cx="64008" cy="6858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5687568" y="9875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Wheat  </a:t>
            </a:r>
            <a:r>
              <a:rPr lang="en-US" sz="12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+4.2%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87568" y="124358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29.6 mn T  ·  29.68 mn T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577840" y="1691640"/>
            <a:ext cx="32461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Shape 8"/>
          <p:cNvSpPr/>
          <p:nvPr/>
        </p:nvSpPr>
        <p:spPr>
          <a:xfrm>
            <a:off x="5577840" y="1691640"/>
            <a:ext cx="64008" cy="6858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9"/>
          <p:cNvSpPr/>
          <p:nvPr/>
        </p:nvSpPr>
        <p:spPr>
          <a:xfrm>
            <a:off x="5687568" y="17465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Rice  </a:t>
            </a:r>
            <a:r>
              <a:rPr lang="en-US" sz="12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+3.0%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87568" y="20025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9.99 mn T  ·  Target: 9.2 mn T ✓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577840" y="2450592"/>
            <a:ext cx="32461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2"/>
          <p:cNvSpPr/>
          <p:nvPr/>
        </p:nvSpPr>
        <p:spPr>
          <a:xfrm>
            <a:off x="5577840" y="2450592"/>
            <a:ext cx="64008" cy="6858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5687568" y="250545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Sugarcane  </a:t>
            </a:r>
            <a:r>
              <a:rPr lang="en-US" sz="12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+6.2%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687568" y="27614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 mn T  ·  Target: 80.3 mn T ✓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577840" y="3209544"/>
            <a:ext cx="32461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6"/>
          <p:cNvSpPr/>
          <p:nvPr/>
        </p:nvSpPr>
        <p:spPr>
          <a:xfrm>
            <a:off x="5577840" y="3209544"/>
            <a:ext cx="64008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7"/>
          <p:cNvSpPr/>
          <p:nvPr/>
        </p:nvSpPr>
        <p:spPr>
          <a:xfrm>
            <a:off x="5687568" y="32644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Maize  </a:t>
            </a:r>
            <a:r>
              <a:rPr lang="en-US" sz="1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−2.2%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687568" y="3520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 mn T  ·  Target: 9.8 mn T ✗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577840" y="3968496"/>
            <a:ext cx="32461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20"/>
          <p:cNvSpPr/>
          <p:nvPr/>
        </p:nvSpPr>
        <p:spPr>
          <a:xfrm>
            <a:off x="5577840" y="3968496"/>
            <a:ext cx="64008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1"/>
          <p:cNvSpPr/>
          <p:nvPr/>
        </p:nvSpPr>
        <p:spPr>
          <a:xfrm>
            <a:off x="5687568" y="40233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Cotton  </a:t>
            </a:r>
            <a:r>
              <a:rPr lang="en-US" sz="1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−0.7%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687568" y="42793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7.05 mn Bales  ·  Target: 10.2 mn ✗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74320" y="4224528"/>
            <a:ext cx="502920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4"/>
          <p:cNvSpPr/>
          <p:nvPr/>
        </p:nvSpPr>
        <p:spPr>
          <a:xfrm>
            <a:off x="411480" y="42702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to Agriculture (Jul–Mar FY26): Rs 2,162B  ↑15% YoY — positive for future seasons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STRUCTURAL CHALLENGES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constraints limiting sustained high growth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64008" cy="1261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438912" y="1051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 Stagnation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344168"/>
            <a:ext cx="38404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↓5.4% Jul–Apr FY26 — alarming reversal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Merchandise stuck at $25–30B for a decade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Textiles 60%+ · minimal diversification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effective exporter tax in the region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148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64008" cy="1261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4828032" y="1051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FDI Drought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344168"/>
            <a:ext cx="38404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FDI collapsed 30.8% in FY26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~$500M is genuine fresh capital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 is retained earnings of existing firms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fresh FDI in South Asia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41148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64008" cy="12618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438912" y="24231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Crisis Persists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2715768"/>
            <a:ext cx="38404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debt stock: PKR 2,842B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tariffs making mfg uncompetitive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IPP contracts need renegotiation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Deindustrialisation accelerating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331720"/>
            <a:ext cx="41148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4663440" y="2331720"/>
            <a:ext cx="64008" cy="12618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4828032" y="24231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Narrow Tax Base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28032" y="2715768"/>
            <a:ext cx="38404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Tax-to-GDP ratio ~10% vs 18–22% in peers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(25% of GDP) near-zero tax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sector overtaxed → informality grows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Vicious circle: narrow base → higher rates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703320"/>
            <a:ext cx="41148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274320" y="3703320"/>
            <a:ext cx="64008" cy="12618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438912" y="37947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Boom-Bust Trap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4087368"/>
            <a:ext cx="38404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IMF programs since 1950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issues untouched each cycle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program: 37-month EFF (2024)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reform, next crisis is when, not if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703320"/>
            <a:ext cx="41148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4663440" y="3703320"/>
            <a:ext cx="64008" cy="12618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4828032" y="37947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Capital Deficit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28032" y="4087368"/>
            <a:ext cx="38404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800K+ skilled workers emigrated in 2023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spending ~0.2% of GDP (Korea: 4.9%)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LFPR only 24% (vs 64% Vietnam)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poverty among highest in Asia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PEER COMPARISON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Pakistan stand relative to comparable economies?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14400"/>
          <a:ext cx="84124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160520"/>
            <a:ext cx="2743200" cy="658368"/>
          </a:xfrm>
          <a:prstGeom prst="rect">
            <a:avLst/>
          </a:prstGeom>
          <a:solidFill>
            <a:srgbClr val="EAF3ED"/>
          </a:solidFill>
          <a:ln w="12700">
            <a:solidFill>
              <a:srgbClr val="4A63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411480" y="41879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🇧🇩  Bangladesh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442569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$55B exports (2024)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$9B in 2000 · 9×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46120" y="4160520"/>
            <a:ext cx="2743200" cy="658368"/>
          </a:xfrm>
          <a:prstGeom prst="rect">
            <a:avLst/>
          </a:prstGeom>
          <a:solidFill>
            <a:srgbClr val="EAF3ED"/>
          </a:solidFill>
          <a:ln w="12700">
            <a:solidFill>
              <a:srgbClr val="4A63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3383280" y="41879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🇻🇳  Vietnam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383280" y="442569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exports/GDP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FDI-led manufacturing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217920" y="4160520"/>
            <a:ext cx="2743200" cy="658368"/>
          </a:xfrm>
          <a:prstGeom prst="rect">
            <a:avLst/>
          </a:prstGeom>
          <a:solidFill>
            <a:srgbClr val="FDF2F2"/>
          </a:solidFill>
          <a:ln w="254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6355080" y="41879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🇵🇰  Pakistan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355080" y="442569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exports/GDP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IMF programs · Stagnant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CONFIDENCE &amp; FINANCIAL MARKETS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surveys · KSE · SBP · IPSOS · PWC  ·  Source: Finance Division, GoP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5603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411480" y="11155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KSE-100 INDEX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84048" y="132588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164,831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18470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↑38.5% YoY · Asia's top market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017520" y="100584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3017520" y="1005840"/>
            <a:ext cx="25603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3154680" y="11155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127248" y="132588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 18,243B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154680" y="18470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↑27.3% from Rs 14,331B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60720" y="100584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5760720" y="1005840"/>
            <a:ext cx="2560320" cy="54864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5897880" y="11155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SECTOR CREDIT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70448" y="132588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D5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 811B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897880" y="18470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Disbursed Jul–Apr ↑18.4%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46888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274320" y="2468880"/>
            <a:ext cx="2560320" cy="5486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411480" y="25786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IPSOS: STRONG ECON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048" y="278892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11480" y="33101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vs 4% in Q1 2024 (6×)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017520" y="246888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3017520" y="2468880"/>
            <a:ext cx="2560320" cy="5486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3154680" y="25786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CEO CONFIDENCE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127248" y="278892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3154680" y="33101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confidence in growth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760720" y="246888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5760720" y="2468880"/>
            <a:ext cx="2560320" cy="5486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5897880" y="25786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OICCI CONFIDENCE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870448" y="278892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22%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5897880" y="33101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↑11% since Apr 2025 wave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3913632"/>
            <a:ext cx="8595360" cy="91440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274320" y="3913632"/>
            <a:ext cx="64008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457200" y="395935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SBP Business Confidence Index — Mixed Signal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42245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BCI fell 16.7% YoY in April 2026 (47.5 vs 56.7 in June 2025). Current BCI down 19.3% YoY. While IMF/Moody's/Fitch have revised Pakistan's outlook positively, ground-level business sentiment shows deterioration — a critical divergence to monitor.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REFORM IMPERATIVE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of opportunity: IMF EFF (2024) · Gulf ties · Falling inflation · Rebuilt reserves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(0–12M)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27432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Abolish super tax — restore investment incentive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agriculture &gt;25 acres, large retail, real estate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exporter income tax rates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Fiscal Pact — provincial implementation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 privatisation — credible follow-through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4320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3291840" y="98755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 (1–3Y)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371600"/>
            <a:ext cx="27432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3337560" y="146304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sector overhaul — IPP renegotiation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industrial tariffs to regional levels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diversification: IT, pharma, halal food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LFPR: childcare, transport, skills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govt size — digital service delivery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960120"/>
            <a:ext cx="2743200" cy="41148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6217920" y="98755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(3–10Y)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7432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D5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6263640" y="146304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capital: reduce learning poverty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civil service and judiciary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resilience infrastructure (IMF RSF)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Public Infrastructure (URAAN)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E1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reform — inclusive over extractive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553712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365760" y="46360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B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Pakistan has engaged with the IMF 25 times since 1950. Without structural reform in this window, the next crisis is a question of WHEN, not WHETHER.  —  Dr. Amanat Ali, QAU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1371600"/>
            <a:ext cx="457200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0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₨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640080" y="640080"/>
            <a:ext cx="64008" cy="3840480"/>
          </a:xfrm>
          <a:prstGeom prst="rect">
            <a:avLst/>
          </a:prstGeom>
          <a:solidFill>
            <a:srgbClr val="888888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868680" y="3886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ASSESSMENT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800100"/>
            <a:ext cx="7498080" cy="1120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Stabilisation — But Not Transformation</a:t>
            </a:r>
            <a:endParaRPr lang="en-US" sz="3800" dirty="0">
              <a:solidFill>
                <a:srgbClr val="222222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3474720" cy="25603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960120" y="20848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Stabilisation Gains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37744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surplus: Rs 4,092B (3.2% of GDP)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SBP reserves rebuilt to $15.9B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LSM growth +6.5% · Cars +51.8%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KSE-100 at 164,831 (↑38.5%)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down from 38% to 6.2% avg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Remittances record: $33.9B (+8.5%)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17720" y="2011680"/>
            <a:ext cx="3474720" cy="256032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PK" dirty="0">
              <a:solidFill>
                <a:srgbClr val="222222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754880" y="20848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Persistent Challenges</a:t>
            </a:r>
            <a:endParaRPr lang="en-US" sz="1300" dirty="0">
              <a:solidFill>
                <a:srgbClr val="22222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754880" y="237744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FELL 5.4% — structural not cyclical</a:t>
            </a:r>
            <a:endParaRPr lang="en-US" sz="950" dirty="0">
              <a:solidFill>
                <a:srgbClr val="222222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FDI collapsed 30.8% to $1.4B</a:t>
            </a:r>
            <a:endParaRPr lang="en-US" sz="950" dirty="0">
              <a:solidFill>
                <a:srgbClr val="222222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deficit widened 26.3% to $26.9B</a:t>
            </a:r>
            <a:endParaRPr lang="en-US" sz="950" dirty="0">
              <a:solidFill>
                <a:srgbClr val="222222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inflation rising: 8% in April</a:t>
            </a:r>
            <a:endParaRPr lang="en-US" sz="950" dirty="0">
              <a:solidFill>
                <a:srgbClr val="222222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debt: 70.7% of GDP</a:t>
            </a:r>
            <a:endParaRPr lang="en-US" sz="950" dirty="0">
              <a:solidFill>
                <a:srgbClr val="222222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at 3.7% — well below 6% needed</a:t>
            </a:r>
            <a:endParaRPr lang="en-US" sz="950" dirty="0">
              <a:solidFill>
                <a:srgbClr val="222222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BBBBBB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365760" y="48188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Amanat Ali ·  School of Economics, QAU Islamabad  ·  Economy of Pakistan ·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12639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0399929301]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E7E6E6"/>
      </a:lt2>
      <a:accent1>
        <a:srgbClr val="444444"/>
      </a:accent1>
      <a:accent2>
        <a:srgbClr val="555555"/>
      </a:accent2>
      <a:accent3>
        <a:srgbClr val="AAAAAA"/>
      </a:accent3>
      <a:accent4>
        <a:srgbClr val="777777"/>
      </a:accent4>
      <a:accent5>
        <a:srgbClr val="888888"/>
      </a:accent5>
      <a:accent6>
        <a:srgbClr val="999999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160965E-C389-44ED-BC58-F1A70BACBAB8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f0c958c7-db09-4ec8-be57-d38fd029746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1433</Words>
  <Application>Microsoft Office PowerPoint</Application>
  <PresentationFormat>On-screen Show (16:9)</PresentationFormat>
  <Paragraphs>224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 [1780399929301]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Pakistan Economy — Salient Features &amp; Key Challenges</dc:title>
  <dc:subject>PptxGenJS Presentation</dc:subject>
  <dc:creator>Prof. Dr. Zahid Asghar, School of Economics, QAU</dc:creator>
  <cp:lastModifiedBy>Prof. Dr. Zahid Asghar</cp:lastModifiedBy>
  <cp:revision>7</cp:revision>
  <dcterms:created xsi:type="dcterms:W3CDTF">2026-06-01T12:30:47Z</dcterms:created>
  <dcterms:modified xsi:type="dcterms:W3CDTF">2026-06-02T11:34:23Z</dcterms:modified>
</cp:coreProperties>
</file>