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E3A1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1440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Services Sector: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 of a Modern Economy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54864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749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4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Performance · Challenges · Opportunities · Way Forward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Pakistan · BS Programme · QAU   ·   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is by far Pakistan's largest sector — bigger than agriculture and industry combined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4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1228" y="1508760"/>
            <a:ext cx="33832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" y="17190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2668" y="2953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GDP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2668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2024–25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2836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4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1508760"/>
            <a:ext cx="33832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494276" y="17190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2.91%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494276" y="2953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4276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2024–25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4444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4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4444" y="1508760"/>
            <a:ext cx="33832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215884" y="17190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215884" y="2953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Employed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15884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Force Survey 2024–25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572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overall GDP grew 2.68% in FY25. Services leads in weight; industry led in pace (4.77%). Agriculture: 23.5%, Industry: 18.1% of GDP.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Economic Survey 2024–25, Ministry of Finance; IGI Research June 2025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Services Sector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classification, and why it matters for Pakistan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create value without producing a physical good — and they drive Pakistan's modern economy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600200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81328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Services are intangible economic activities — banking, retail, transport, education, health, ICT — where output is consumed as it is produced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2350008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Tertiary Sector; it follows from agriculture (primary) and manufacturing (secondary) in the structural transformation ladder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3099816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80944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classifies services into: Wholesale &amp; Retail Trade · Transport &amp; Storage · ICT · Finance &amp; Insurance · Real Estate · Public Administration · Education · Health · Other Private Services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0352" y="3849624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730752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differ from goods in four ways — Intangibility (cannot be touched), Inseparability (produced and consumed simultaneously), Variability (quality varies), and Perishability (cannot be stored)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Bureau of Statistics, National Accounts Methodology; Ministry of Finance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Wholesale &amp; retail trade is the single largest sub-sector — nearly one-third of all services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4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1228" y="1508760"/>
            <a:ext cx="33832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" y="17190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30.8%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2668" y="2953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Retail Trade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2668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services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2836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4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1508760"/>
            <a:ext cx="33832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494276" y="17190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494276" y="2953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4276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4444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4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4444" y="1508760"/>
            <a:ext cx="338328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215884" y="171907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215884" y="29535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15884" y="35478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572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Insurance, IT/Telecom, Education, and Health account for the remaining ~41%. ICT and finance are the fastest-growing sub-sectors in value terms.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Finance; Bank of Scotland Trade Pakistan Overview, FY2024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Sub-Sectors Shaping Pakistan's Future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Telecom · Banking &amp; Finance · Formal vs Informal Services · Education &amp; Health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IT and telecom sectors are growing rapidly — but remain far below their potential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600200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81328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Telecom: ~200 million subscriptions by March 2025; sector revenues Rs 803 billion (Jul–Mar FY25); mobile data usage jumped 68.9% YoY to 4.3 GB per subscriber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2350008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Exports: Reached ~$3.2 billion annually; Pakistan ranks among the world's top-5 freelancing nations by earnings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3099816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80944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Startups: Over 1,900 startups incubated under National Incubation Centres (NICs); 185,000+ jobs created; Rs 30.8 billion in investments attracted, 12,000 women entrepreneurs empowered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0352" y="3849624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730752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Push: e-Rozgaar program targeting 50 active centres by FY2025; 20,000 direct jobs; China–Pakistan JWG for ICT infrastructure, cybersecurity, and 5G cooperation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30352" y="4599432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480560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High duties on mobile devices, rupee depreciation (+17% loss in 2024) inflating spectrum fees, and limited 5G rollout are throttling sector competitiveness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Economic Survey 2024–25; SBP; Mordor Intelligence Telecom Pakistan Report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is modernising fast — but financial exclusion leaves most Pakistanis outside the formal economy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600200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81328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insurance contribute ~4% of GDP but function as the nerve centre of investment, credit, and economic confidence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2350008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cut policy rates by 450 basis points to 17.5% through FY2025 — easing credit and spurring private investment growth of 9.9%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3099816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80944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 surge: JazzCash alone has 48 million registered wallets; mobile banking transactions hit 1.69 billion in FY2025 — financial inclusion from the bottom up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0352" y="3849624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730752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markets: PSX market capitalisation surged 50% to Rs 10.2 trillion; KSE-100 gained 78,000 points; corporate bond issuance up 38% to Rs 480 billion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30352" y="4599432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480560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Only ~35% of adults hold bank accounts; 72% of non-agricultural workers are in the informal economy without access to credit, insurance, or pensions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Economic Survey 2024–25; SBP Annual Report; Express Tribune June 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services sector is split: a growing formal economy alongside a vast informal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12064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Services (Registered &amp; Taxed)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9933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telecom firms, listed companies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taxes, counted fully in GDP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331012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by SBP, SECP, PTA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059936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9684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have contracts, benefits, pensions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718304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462686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foreign investment &amp; credit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1508760"/>
            <a:ext cx="512064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Services (Unregistered &amp; Untaxed)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2084832"/>
            <a:ext cx="128016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0" name="Text 18"/>
          <p:cNvSpPr/>
          <p:nvPr/>
        </p:nvSpPr>
        <p:spPr>
          <a:xfrm>
            <a:off x="6684264" y="19933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vendors, informal retail, rickshaws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2743200"/>
            <a:ext cx="128016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2" name="Text 20"/>
          <p:cNvSpPr/>
          <p:nvPr/>
        </p:nvSpPr>
        <p:spPr>
          <a:xfrm>
            <a:off x="6684264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invisible to GDP measurement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3401568"/>
            <a:ext cx="128016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84264" y="331012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regulatory oversight or consumer protection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4059936"/>
            <a:ext cx="128016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6" name="Text 24"/>
          <p:cNvSpPr/>
          <p:nvPr/>
        </p:nvSpPr>
        <p:spPr>
          <a:xfrm>
            <a:off x="6684264" y="39684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lack social safety nets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4718304"/>
            <a:ext cx="128016" cy="12801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8" name="Text 26"/>
          <p:cNvSpPr/>
          <p:nvPr/>
        </p:nvSpPr>
        <p:spPr>
          <a:xfrm>
            <a:off x="6684264" y="462686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72.1% of non-agricultural employment — the majority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44768" y="1417320"/>
            <a:ext cx="16459" cy="365760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Labour Force Survey 2024–25; Wikipedia Economy of Pakistan 2025; Bank of Scotland Trade 2024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Holding the Services Sector Back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structural barriers limiting growth, jobs, and tax revenue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structural barriers prevent Pakistan's services sector from reaching its full potential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" y="149961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1499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49961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Tax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4813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= 58% of GDP but contribute a disproportionately small share of taxes — most providers operate outside the formal tax 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2258568"/>
            <a:ext cx="402336" cy="402336"/>
          </a:xfrm>
          <a:prstGeom prst="ellipse">
            <a:avLst/>
          </a:prstGeom>
          <a:solidFill>
            <a:srgbClr val="8B735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2258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2585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spending is only 2.1% of GDP (UNESCO benchmark: 4–5%); a mismatch between workforce skills and services sector needs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3017520"/>
            <a:ext cx="402336" cy="402336"/>
          </a:xfrm>
          <a:prstGeom prst="ellipse">
            <a:avLst/>
          </a:prstGeom>
          <a:solidFill>
            <a:srgbClr val="3A6B3B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Divide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9992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growth is uneven — rural areas and women remain largely excluded from digital services, e-commerce, and online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66744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3776472"/>
            <a:ext cx="402336" cy="402336"/>
          </a:xfrm>
          <a:prstGeom prst="ellipse">
            <a:avLst/>
          </a:prstGeom>
          <a:solidFill>
            <a:srgbClr val="A0522D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7764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Crisis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5818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tariffs rose 29% in FY2025; erratic power supply inflates operational costs for service firms and reduces competitiveness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425696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64" y="453542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4535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45354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Burden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451713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registration, high telecom taxes, and bureaucratic red tape deter formalisation and discourage foreign direct investment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184648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" y="5294376"/>
            <a:ext cx="402336" cy="402336"/>
          </a:xfrm>
          <a:prstGeom prst="ellipse">
            <a:avLst/>
          </a:prstGeom>
          <a:solidFill>
            <a:srgbClr val="8B735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5294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52943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52760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72.1% of non-agricultural workers are informal — this shrinks the tax base and leaves most service workers without any social protection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Economic Survey 2024–25; World Bank June 2025; Mordor Intelligence 2026; PBS Labour Force Survey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for Growth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economy · Youth dividend · Remittances · CPEC · Tourism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Demographics, geography, and digital momentum create a genuine window for services-led growth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" y="149961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1499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49961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 Dividend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4813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53.8% of Pakistan is working-age (15–59); with the right skills, this demographic bulge can power IT, fintech, education, and health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2258568"/>
            <a:ext cx="402336" cy="402336"/>
          </a:xfrm>
          <a:prstGeom prst="ellipse">
            <a:avLst/>
          </a:prstGeom>
          <a:solidFill>
            <a:srgbClr val="8B735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2258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2585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&amp; Freelancing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 billion in IT exports; English-speaking, young tech talent offers competitive advantage in the $7 trillion global services 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3017520"/>
            <a:ext cx="402336" cy="402336"/>
          </a:xfrm>
          <a:prstGeom prst="ellipse">
            <a:avLst/>
          </a:prstGeom>
          <a:solidFill>
            <a:srgbClr val="3A6B3B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Remittances $32bn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9992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grew 11% to $32 billion in FY25 — the largest forex source — sustaining household consumption and retail services demand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666744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3776472"/>
            <a:ext cx="402336" cy="402336"/>
          </a:xfrm>
          <a:prstGeom prst="ellipse">
            <a:avLst/>
          </a:prstGeom>
          <a:solidFill>
            <a:srgbClr val="A0522D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7764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CPEC Connectivity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5818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CPEC enhances logistics, transport corridors, and cross-border trade; CPEC-II adds digital and green corridor components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425696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64" y="453542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4535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45354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Inclusion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451713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wallets (JazzCash: 48 mn users) and SBP's digital push can bring millions of unbanked Pakistanis into formal financial services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184648"/>
            <a:ext cx="11247120" cy="731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" y="5294376"/>
            <a:ext cx="402336" cy="402336"/>
          </a:xfrm>
          <a:prstGeom prst="ellipse">
            <a:avLst/>
          </a:prstGeom>
          <a:solidFill>
            <a:srgbClr val="8B735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5294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52943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Tourism Potential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52760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scenic North, cultural heritage sites, and hospitality sector offer significant growth if security and infrastructure improve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Pakistan Economic Survey 2024–25; SBP; Mordor Intelligence; World Bank 2025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reforms would unlock the services sector's true potential and make it an engine of inclusive growth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47120" cy="16459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600200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81328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Informal: Simplify business registration, offer tax amnesties, and use digital payment data to bring service providers into the tax net — widening the base without raising rates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2350008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Human Capital: Raise education spending toward 4–5% of GDP; expand vocational and digital skills training aligned with what services employers actually need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3099816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80944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Financial Inclusion: Use SBP's digital payment infrastructure and mobile money platforms to extend credit, insurance, and savings products to the unbanked majority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0352" y="3849624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730752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Telecom Taxation: Reduce duties on mobile devices and dollar-linked spectrum fees to accelerate 5G rollout, smartphone adoption, and the digital economy's GDP contribution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30352" y="4599432"/>
            <a:ext cx="155448" cy="1554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480560"/>
            <a:ext cx="10972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Services Exports: Strengthen PSEB, invest in IT parks, offer R&amp;D incentives, and negotiate bilateral services trade agreements to capture global market share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IMF Article IV 2024; World Bank Pakistan Development Update 2025; Pakistan Economic Survey 2024–25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74320"/>
            <a:ext cx="54864" cy="4572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47120" cy="16459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account for 58.4% of GDP and employ 38% of Pakistan's workforce — making it the single most important sector in the economy today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1155680" cy="7315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retail trade (30.8%), transport (18.2%), and real estate (10.1%) are the three largest sub-sectors; IT/telecom and finance are the fastest-growing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706624"/>
            <a:ext cx="11155680" cy="7315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informal economy — 72% of non-agricultural employment — is Pakistan's biggest structural challenge: it shrinks the tax base and denies workers social protection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529584"/>
            <a:ext cx="11155680" cy="7315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611880"/>
            <a:ext cx="384048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IT sector ($3.2bn exports, 200mn telecom subscribers, 1,900+ incubated startups) is a genuine growth engine constrained by high taxes, skills gaps, and energy costs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11155680" cy="7315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4434840"/>
            <a:ext cx="384048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forward requires five parallel reforms: formalisation, human capital, financial inclusion, telecom tax reduction, and a deliberate services export strategy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Pakistan's services sector is its largest — but not yet its most productive. That gap is the reform opportunity.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337560"/>
            <a:ext cx="54864" cy="9144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375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 Which service sub-sector should Pakistan prioritise for export-led growth, and why?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Zahid Asghar · School of Economics · Quaid-i-Azam University, Islamabad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2026-05-05T04:07:10Z</dcterms:created>
  <dcterms:modified xsi:type="dcterms:W3CDTF">2026-05-05T04:07:10Z</dcterms:modified>
</cp:coreProperties>
</file>