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1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1006" y="1238250"/>
            <a:ext cx="67619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spcAft>
                <a:spcPts val="1500"/>
              </a:spcAft>
              <a:buNone/>
            </a:pPr>
            <a:r>
              <a:rPr lang="en-US" sz="7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Pakistan's 25th IMF Bailout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191006" y="3257550"/>
            <a:ext cx="67619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Cycle of Dependency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91006" y="3676650"/>
            <a:ext cx="6761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Analysis of Elite Capture and Economic Survival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B1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Historic Milestone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543050"/>
            <a:ext cx="3634680" cy="2286000"/>
          </a:xfrm>
          <a:prstGeom prst="roundRect">
            <a:avLst>
              <a:gd name="adj" fmla="val 3333"/>
            </a:avLst>
          </a:prstGeom>
          <a:solidFill>
            <a:srgbClr val="8B1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3273" y="1924050"/>
            <a:ext cx="29301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spcAft>
                <a:spcPts val="600"/>
              </a:spcAft>
              <a:buNone/>
            </a:pPr>
            <a:r>
              <a:rPr lang="en-US" sz="7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3273" y="2914650"/>
            <a:ext cx="29301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IMF Programs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3273" y="3257550"/>
            <a:ext cx="29301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1958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20480" y="156210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Latest Package: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320480" y="1981200"/>
            <a:ext cx="4442520" cy="53340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39530" y="1981200"/>
            <a:ext cx="0" cy="53340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0980" y="2133600"/>
            <a:ext cx="4181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 billion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IMF agreement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20480" y="2628900"/>
            <a:ext cx="4442520" cy="53340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339530" y="2628900"/>
            <a:ext cx="0" cy="53340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0980" y="2781300"/>
            <a:ext cx="4181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 billion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first disbursement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20480" y="3276600"/>
            <a:ext cx="4442520" cy="53340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39530" y="3276600"/>
            <a:ext cx="0" cy="53340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0980" y="3429000"/>
            <a:ext cx="4181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conditions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attached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1000" y="47625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IMF, Pakistan Finance Ministry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B1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Vicious Cycle</a:t>
            </a:r>
            <a:endParaRPr lang="en-US" sz="2700" dirty="0"/>
          </a:p>
        </p:txBody>
      </p:sp>
      <p:pic>
        <p:nvPicPr>
          <p:cNvPr id="3" name="Image 0" descr="/tmp/rasterized-gradient-76ef42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0" y="1028700"/>
            <a:ext cx="6667500" cy="1981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7919" y="1485900"/>
            <a:ext cx="58681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"Using one credit card to pay the minimum balance on another"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637919" y="2324100"/>
            <a:ext cx="58681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with more flags and national anthems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38250" y="3238500"/>
            <a:ext cx="6667500" cy="1104900"/>
          </a:xfrm>
          <a:prstGeom prst="roundRect">
            <a:avLst>
              <a:gd name="adj" fmla="val 689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404747" y="3467100"/>
            <a:ext cx="63345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80% of foreign assistance goes to: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824066" y="3886200"/>
            <a:ext cx="145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the lights 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22418" y="3886200"/>
            <a:ext cx="1598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Preventing debt default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1000" y="47625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based on Pakistan fiscal data, 2024-25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B1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Capture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714500"/>
            <a:ext cx="3230910" cy="1943100"/>
          </a:xfrm>
          <a:prstGeom prst="roundRect">
            <a:avLst>
              <a:gd name="adj" fmla="val 3922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9587" y="2019300"/>
            <a:ext cx="2673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59587" y="2781300"/>
            <a:ext cx="26737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GDP lost annually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9587" y="3162300"/>
            <a:ext cx="267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According to IMF analysis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916710" y="1704975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16710" y="215265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8B1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07210" y="2124075"/>
            <a:ext cx="2459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breaks for real estate moguls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07210" y="2371725"/>
            <a:ext cx="24593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subsidies to the connected elite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7051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8B1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07210" y="2676525"/>
            <a:ext cx="29799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Subsidized sugar for the well-connected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07210" y="2924175"/>
            <a:ext cx="29799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citizens struggle with energy prices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16710" y="325755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8B1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07210" y="3228975"/>
            <a:ext cx="22529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Military's fair share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07210" y="3476625"/>
            <a:ext cx="22529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powerful maintain their privileges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1000" y="47625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IMF Elite Capture Analysis, 2024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B1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"Brotherly Nations"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200150"/>
            <a:ext cx="85496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3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"Like that friend who keeps lending you money knowing they'll never see it again, but wants to make sure you don't crash on their couch"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1000" y="1962150"/>
            <a:ext cx="2667000" cy="13335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981200"/>
            <a:ext cx="266700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2190750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Saudi Arabia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1500" y="2533650"/>
            <a:ext cx="2331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8B1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$5B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71500" y="2914650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Rolled over deposits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38500" y="1962150"/>
            <a:ext cx="2667000" cy="13335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38500" y="1981200"/>
            <a:ext cx="266700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190750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2533650"/>
            <a:ext cx="2331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8B1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$3.4B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429000" y="2914650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Rolled over deposits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6000" y="1924050"/>
            <a:ext cx="2667000" cy="1409700"/>
          </a:xfrm>
          <a:prstGeom prst="roundRect">
            <a:avLst>
              <a:gd name="adj" fmla="val 54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96000" y="1943100"/>
            <a:ext cx="266700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6500" y="2152650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86500" y="24955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Shifting Strategy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86500" y="2762250"/>
            <a:ext cx="2331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cash to asset-backed investments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1000" y="3562350"/>
            <a:ext cx="8382000" cy="609600"/>
          </a:xfrm>
          <a:prstGeom prst="roundRect">
            <a:avLst>
              <a:gd name="adj" fmla="val 12500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71500" y="3752850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$3+ billion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foreign assistance in first 5 months of fiscal year alone —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investment, but survival aid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1000" y="47625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 State Bank data, FY 2024-25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B1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IMF's Patience Runs Thin</a:t>
            </a:r>
            <a:endParaRPr lang="en-US" sz="2700" dirty="0"/>
          </a:p>
        </p:txBody>
      </p:sp>
      <p:pic>
        <p:nvPicPr>
          <p:cNvPr id="3" name="Image 0" descr="/tmp/rasterized-gradient-fc82bcb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638300"/>
            <a:ext cx="2826990" cy="2095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1350" y="2019300"/>
            <a:ext cx="21062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41350" y="2781300"/>
            <a:ext cx="21062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Conditions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41350" y="3162300"/>
            <a:ext cx="21062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latest package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512790" y="1257300"/>
            <a:ext cx="53552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include: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512790" y="1676400"/>
            <a:ext cx="5250210" cy="53340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3531840" y="1676400"/>
            <a:ext cx="0" cy="53340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03290" y="1828800"/>
            <a:ext cx="50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asset disclosure of civil servants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512790" y="2305050"/>
            <a:ext cx="5250210" cy="53340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531840" y="2305050"/>
            <a:ext cx="0" cy="53340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03290" y="2457450"/>
            <a:ext cx="50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corruption audits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12790" y="2933700"/>
            <a:ext cx="5250210" cy="53340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531840" y="2933700"/>
            <a:ext cx="0" cy="53340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03290" y="3086100"/>
            <a:ext cx="50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economic reforms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512790" y="3619500"/>
            <a:ext cx="5250210" cy="495300"/>
          </a:xfrm>
          <a:prstGeom prst="roundRect">
            <a:avLst>
              <a:gd name="adj" fmla="val 7692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665190" y="3771900"/>
            <a:ext cx="50443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"We'll give you the cash, but we're going to look through your browser history first"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1000" y="47625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IMF Extended Fund Facility Agreement, 2024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B1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 Reality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257300"/>
            <a:ext cx="2667000" cy="1104900"/>
          </a:xfrm>
          <a:prstGeom prst="roundRect">
            <a:avLst>
              <a:gd name="adj" fmla="val 6897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7502" y="1485900"/>
            <a:ext cx="22539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External Debt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7502" y="1752600"/>
            <a:ext cx="22539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~$300B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238500" y="1257300"/>
            <a:ext cx="2667000" cy="1104900"/>
          </a:xfrm>
          <a:prstGeom prst="roundRect">
            <a:avLst>
              <a:gd name="adj" fmla="val 6897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45002" y="1485900"/>
            <a:ext cx="22539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as % of GDP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45002" y="1752600"/>
            <a:ext cx="22539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096000" y="1162050"/>
            <a:ext cx="2667000" cy="1295400"/>
          </a:xfrm>
          <a:prstGeom prst="roundRect">
            <a:avLst>
              <a:gd name="adj" fmla="val 5882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02502" y="1390650"/>
            <a:ext cx="22539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Decline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02502" y="1657350"/>
            <a:ext cx="22539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 → 10%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02502" y="2076450"/>
            <a:ext cx="22539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GDP, 1990s to today</a:t>
            </a:r>
            <a:endParaRPr lang="en-US" sz="900" dirty="0"/>
          </a:p>
        </p:txBody>
      </p:sp>
      <p:pic>
        <p:nvPicPr>
          <p:cNvPr id="13" name="Image 0" descr="/tmp/rasterized-gradient-5894a5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686050"/>
            <a:ext cx="8382000" cy="7239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09600" y="2914650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growing industry: 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Remittances from overseas relatives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81000" y="3600450"/>
            <a:ext cx="8382000" cy="609600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71500" y="3790950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know your economy is in trouble when your best export is people who leave"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1000" y="47625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Bank, Pakistan Economic Survey 2024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B1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Geopolitical Rent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762000"/>
            <a:ext cx="8382000" cy="1295400"/>
          </a:xfrm>
          <a:prstGeom prst="roundRect">
            <a:avLst>
              <a:gd name="adj" fmla="val 5882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066800"/>
            <a:ext cx="79278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they keep helping?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485900"/>
            <a:ext cx="7927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collapsed nuclear-armed Pakistan is a nightmare no one wants to manage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1000" y="2286000"/>
            <a:ext cx="8382000" cy="1257300"/>
          </a:xfrm>
          <a:prstGeom prst="roundRect">
            <a:avLst>
              <a:gd name="adj" fmla="val 60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251460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brotherly patience is wearing thin: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8575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UAE is now pivoting from cash aid to investments, demanding actual assets like ports and airports in exchange for liquidity</a:t>
            </a:r>
            <a:endParaRPr lang="en-US" sz="1200" dirty="0"/>
          </a:p>
        </p:txBody>
      </p:sp>
      <p:pic>
        <p:nvPicPr>
          <p:cNvPr id="9" name="Image 0" descr="/tmp/rasterized-gradient-fd16c5a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695700"/>
            <a:ext cx="83820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1500" y="3886200"/>
            <a:ext cx="81610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your economy relies on remittances and loans rather than exports and industries, you aren't a rising power. You are a subsidized state."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81000" y="47625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Analysis: NewsX, December 2024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B1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 for 2026?</a:t>
            </a:r>
            <a:endParaRPr lang="en-US" sz="2700" dirty="0"/>
          </a:p>
        </p:txBody>
      </p:sp>
      <p:pic>
        <p:nvPicPr>
          <p:cNvPr id="3" name="Image 0" descr="/tmp/rasterized-gradient-2a39d9b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941040"/>
            <a:ext cx="7620000" cy="190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2144" y="1398240"/>
            <a:ext cx="68397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1200"/>
              </a:spcAft>
              <a:buNone/>
            </a:pPr>
            <a:r>
              <a:rPr lang="en-US" sz="4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26th IMF Program?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1152144" y="2122140"/>
            <a:ext cx="68397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begging bowl isn't a metaphor anymore — it's a legacy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62000" y="3074640"/>
            <a:ext cx="7620000" cy="1356271"/>
          </a:xfrm>
          <a:prstGeom prst="roundRect">
            <a:avLst>
              <a:gd name="adj" fmla="val 561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57834" y="3341340"/>
            <a:ext cx="7228332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nation's sovereignty is only as strong as its balance sheet. Every time a minister boards a flight to Washington or Riyadh with a folder full of requests, a piece of that sovereignty is left on the tarmac.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81000" y="47625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 Economic Outlook, December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Pakistan's 25th IMF Bailout</dc:title>
  <dc:subject>Economic Analysis</dc:subject>
  <dc:creator>NewsX Analysis</dc:creator>
  <cp:lastModifiedBy>NewsX Analysis</cp:lastModifiedBy>
  <cp:revision>1</cp:revision>
  <dcterms:created xsi:type="dcterms:W3CDTF">2025-12-26T04:56:17Z</dcterms:created>
  <dcterms:modified xsi:type="dcterms:W3CDTF">2025-12-26T04:56:17Z</dcterms:modified>
</cp:coreProperties>
</file>