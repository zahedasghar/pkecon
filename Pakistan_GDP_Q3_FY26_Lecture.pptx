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6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GDP Update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686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FY 2025-26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Accounts — Growth, Gaps &amp; Ground Reality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of Pakistan  ·  School of Economics, QAU  ·  Spring 2026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99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117th NAC Meeting (May 14, 2026) &amp; expert commentary by former Joint Chief Economist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Zahid Asghar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02920"/>
            <a:ext cx="64008" cy="42062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7548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GDP Numbers Matter — and Why We Must Read Them Critically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81381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GDP number is not just a statistic — it shapes IMF negotiations, market confidence, and the next budget envelope.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50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Pakistan's ADB forecast for FY26: 3.0% growth  ·  Government target: 4.2%  ·  Q3 provisional: 4.0%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600" b="1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session: three analytical layers</a:t>
            </a:r>
            <a:endParaRPr lang="en-US" sz="1600" dirty="0"/>
          </a:p>
          <a:p>
            <a:pPr lvl="1" marL="254000" indent="-127000">
              <a:spcAft>
                <a:spcPts val="400"/>
              </a:spcAft>
              <a:buSzPct val="100000"/>
              <a:buChar char="■"/>
            </a:pPr>
            <a:r>
              <a:rPr lang="en-US" sz="16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117th NAC reported — sector-by-sector</a:t>
            </a:r>
            <a:endParaRPr lang="en-US" sz="1600" dirty="0"/>
          </a:p>
          <a:p>
            <a:pPr lvl="1" marL="254000" indent="-127000">
              <a:spcAft>
                <a:spcPts val="400"/>
              </a:spcAft>
              <a:buSzPct val="100000"/>
              <a:buChar char="■"/>
            </a:pPr>
            <a:r>
              <a:rPr lang="en-US" sz="16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numbers raise methodological questions</a:t>
            </a:r>
            <a:endParaRPr lang="en-US" sz="1600" dirty="0"/>
          </a:p>
          <a:p>
            <a:pPr lvl="1" marL="254000" indent="-127000">
              <a:spcAft>
                <a:spcPts val="400"/>
              </a:spcAft>
              <a:buSzPct val="100000"/>
              <a:buChar char="■"/>
            </a:pPr>
            <a:r>
              <a:rPr lang="en-US" sz="16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policy and the next budget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6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117th NAC Meeting — Headline Figures (Q3 FY 2025-26)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760220" cy="2651760"/>
          </a:xfrm>
          <a:prstGeom prst="rect">
            <a:avLst/>
          </a:prstGeom>
          <a:solidFill>
            <a:srgbClr val="0E2A1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280160"/>
            <a:ext cx="17602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4.0%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17602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GDP Growth (YoY)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17602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— 9-month avg also 4.0%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20340" y="1097280"/>
            <a:ext cx="1760220" cy="2651760"/>
          </a:xfrm>
          <a:prstGeom prst="rect">
            <a:avLst/>
          </a:prstGeom>
          <a:solidFill>
            <a:srgbClr val="0E2A1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20340" y="1280160"/>
            <a:ext cx="17602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$452B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720340" y="2331720"/>
            <a:ext cx="17602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Size FY26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20340" y="2788920"/>
            <a:ext cx="17602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$408B last year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1760220" cy="2651760"/>
          </a:xfrm>
          <a:prstGeom prst="rect">
            <a:avLst/>
          </a:prstGeom>
          <a:solidFill>
            <a:srgbClr val="0E2A1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280160"/>
            <a:ext cx="17602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$1,901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4663440" y="2331720"/>
            <a:ext cx="17602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Capita Income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2788920"/>
            <a:ext cx="17602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2023 Census population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06540" y="1097280"/>
            <a:ext cx="1760220" cy="2651760"/>
          </a:xfrm>
          <a:prstGeom prst="rect">
            <a:avLst/>
          </a:prstGeom>
          <a:solidFill>
            <a:srgbClr val="0E2A1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06540" y="1280160"/>
            <a:ext cx="17602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AA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3.75–4.75%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606540" y="2331720"/>
            <a:ext cx="17602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SBP Projected Range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06540" y="2788920"/>
            <a:ext cx="17602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figure within band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9776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National Accounts Committee, 117th Meeting, May 14 2026 · Ministry of Planning &amp; Development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5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Sector-by-Sector Breakdown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30632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· Industry · Services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02920"/>
            <a:ext cx="64008" cy="42062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7548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— Q3 Growth: 3.01%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5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sub-sectors posted positive growth in Q3 — a welcome change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crops      +1.10%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crops          +2.27%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Livestock            +3.70%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Forestry             +1.62%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Fishing              +1.37%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year: Agriculture grew ~2.95% in Q1 (revised upward from 2.72%)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663440" y="1234440"/>
            <a:ext cx="36576" cy="329184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0" y="1234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Commentary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691640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5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NOTES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4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Rice: Flood-damaged acreage did NOT suppress output — yields hit ~9 million tonnes, above earlier estimates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Wheat: 29 million tonnes despite negative economics for farmers — input costs exceed support prices, yet farmers had no crop alternatives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Cotton: ~4.8 million bales — still low vs. historical baseline; directly impacts textile sector upstream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400" b="1" dirty="0">
                <a:solidFill>
                  <a:srgbClr val="B8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Yield gap vs. institutional gap — compare Pakistan's 2.85 MT/ha wheat vs. China's 5.42 MT/ha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02920"/>
            <a:ext cx="64008" cy="42062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7548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— Q3 Growth: 4.65% (LSM leads at +9.53%)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5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Manufacturing  +9.53%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three sub-sectors: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Apparel &amp; Garments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Automobile assembly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Cement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&amp; Quarrying    −2.55%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Electricity, Gas &amp; Water  −13.53%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(Electricity contraction partly a statistical base-year effect — prior year posted +129% due to circular debt payments)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 +0.48%  (high base: +14.27% in Q3 last year)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663440" y="1234440"/>
            <a:ext cx="36576" cy="329184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0" y="1234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Commentary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691640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5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QUESTION: Quality of Growth?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4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LSM growth concentrated in apparel, automobiles, and cement — all assembly-lite sectors with low domestic value-added content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Automobile 'production' in Pakistan: assemblers, not manufacturers — value added is small fraction of unit price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creation potential is limited: assembly lines don't absorb 3–4 million new labour entrants per year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400" b="1" dirty="0">
                <a:solidFill>
                  <a:srgbClr val="B8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investment: +25%+ in both years — but methodology is survey-based with no cross-check to SBP credit data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02920"/>
            <a:ext cx="64008" cy="42062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7548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— Q3 Growth: 4.18% — All Components Positive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81381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now the largest sector and main growth driver in Q3 FY26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&amp; Retail Trade     +4.13%   (largest services sub-sector)</a:t>
            </a:r>
            <a:endParaRPr lang="en-US" sz="1600" dirty="0"/>
          </a:p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&amp; Communication  +9.78%   (fastest growing — digital economy signal)</a:t>
            </a:r>
            <a:endParaRPr lang="en-US" sz="1600" dirty="0"/>
          </a:p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500" dirty="0">
                <a:solidFill>
                  <a:srgbClr val="B8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Admin &amp; Social Security  +8.88%</a:t>
            </a:r>
            <a:endParaRPr lang="en-US" sz="1600" dirty="0"/>
          </a:p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                   +4.14%</a:t>
            </a:r>
            <a:endParaRPr lang="en-US" sz="1600" dirty="0"/>
          </a:p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Social Work         +4.07%</a:t>
            </a:r>
            <a:endParaRPr lang="en-US" sz="1600" dirty="0"/>
          </a:p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&amp; Storage     +2.02%</a:t>
            </a:r>
            <a:endParaRPr lang="en-US" sz="1600" dirty="0"/>
          </a:p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Insurance          +2.90%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Government services growth of ~9% in real terms during fiscal consolidation is methodologically puzzling — based on budgeted expenditure, not actuals; revisions expected in October once final spending is confirmed.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5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Investment Puzzle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30632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Investment Surge — Real or Statistical?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02920"/>
            <a:ext cx="64008" cy="42062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7548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Investment: A Methodological Red Flag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81381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analytical surprise in FY25-26 data: private investment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private investment grew ~55–56% per annum on average over two years — implying +110% total in two years</a:t>
            </a:r>
            <a:endParaRPr lang="en-US" sz="1600" dirty="0"/>
          </a:p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investment in construction: ~PKR 500B → ~PKR 1,200B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DOESN'T ADD UP:</a:t>
            </a:r>
            <a:endParaRPr lang="en-US" sz="1600" dirty="0"/>
          </a:p>
          <a:p>
            <a:pPr lvl="1" marL="254000" indent="-127000">
              <a:spcAft>
                <a:spcPts val="400"/>
              </a:spcAft>
              <a:buSzPct val="100000"/>
              <a:buChar char="■"/>
            </a:pPr>
            <a:r>
              <a:rPr lang="en-US" sz="1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construction material (cement, steel) has grown by 50%+ in this period</a:t>
            </a:r>
            <a:endParaRPr lang="en-US" sz="1600" dirty="0"/>
          </a:p>
          <a:p>
            <a:pPr lvl="1" marL="254000" indent="-127000">
              <a:spcAft>
                <a:spcPts val="400"/>
              </a:spcAft>
              <a:buSzPct val="100000"/>
              <a:buChar char="■"/>
            </a:pPr>
            <a:r>
              <a:rPr lang="en-US" sz="1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practitioners report depressed private construction activity</a:t>
            </a:r>
            <a:endParaRPr lang="en-US" sz="1600" dirty="0"/>
          </a:p>
          <a:p>
            <a:pPr lvl="1" marL="254000" indent="-127000">
              <a:spcAft>
                <a:spcPts val="400"/>
              </a:spcAft>
              <a:buSzPct val="100000"/>
              <a:buChar char="■"/>
            </a:pPr>
            <a:r>
              <a:rPr lang="en-US" sz="1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identifiable large private construction projects in the data</a:t>
            </a:r>
            <a:endParaRPr lang="en-US" sz="1600" dirty="0"/>
          </a:p>
          <a:p>
            <a:pPr lvl="1" marL="254000" indent="-127000">
              <a:spcAft>
                <a:spcPts val="400"/>
              </a:spcAft>
              <a:buSzPct val="100000"/>
              <a:buChar char="■"/>
            </a:pPr>
            <a:r>
              <a:rPr lang="en-US" sz="1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PBS methodology: indirect estimation via construction materials quantity index — problematic when material production hasn't moved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400" b="1" dirty="0">
                <a:solidFill>
                  <a:srgbClr val="B8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investment-to-GDP ratio: 14.4% in FY25, and again 14.4% in FY26 — public fell 3pp, private rose 1pp — raises consistency questions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02920"/>
            <a:ext cx="64008" cy="42062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7548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Contradictions Within the Investment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5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MANUFACTURING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4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LSM investment: negative growth this year (after modest +3–4% last year)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most visible, most reliably measured segment — and it is contracting in investment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6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FDI: over 40% negative growth in FY26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FDI headline $2.5B — but &gt;$2B is retained earnings, not fresh inflows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FDI under $500M — lowest in the region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663440" y="1234440"/>
            <a:ext cx="36576" cy="329184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0" y="1234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 Concerns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691640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5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&amp; PRIVATE SECTOR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4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500" b="1" dirty="0">
                <a:solidFill>
                  <a:srgbClr val="B8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investment: +25%+ in both FY25 and FY26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proper SME data infrastructure — derived from survey pro-formas, not cross-checked with SBP credit-to-private-sector data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&amp; Retail private investment also shows 50%+ two-year growth — inconsistent with market observation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6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5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Crowding-in vs crowding-out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says public investment leads private — here public fell and private rose, which contradicts conventional investment multiplier logic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5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&amp; Institutional Capacity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30632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PBS Deficit — A Governance Problem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02920"/>
            <a:ext cx="64008" cy="42062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7548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Bureau of Statistics — Institutional Gaps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81381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quality is a governance and capacity issue — not a technical one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Accounts Member post vacant for 2+ years — and multiple other PBS member posts unfilled</a:t>
            </a:r>
            <a:endParaRPr lang="en-US" sz="1600" dirty="0"/>
          </a:p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Retirements without replacement; promotion pipeline blocked → eroding institutional expertise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Capita Income — how the $1,901 figure was constructed:</a:t>
            </a:r>
            <a:endParaRPr lang="en-US" sz="1600" dirty="0"/>
          </a:p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release cited $1,901 based on 2023 Census population — a positive transparency step</a:t>
            </a:r>
            <a:endParaRPr lang="en-US" sz="1600" dirty="0"/>
          </a:p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500" dirty="0">
                <a:solidFill>
                  <a:srgbClr val="B8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series was built on 1998 Census population projection — significantly understating actual population, inflating per-capita income</a:t>
            </a:r>
            <a:endParaRPr lang="en-US" sz="1600" dirty="0"/>
          </a:p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NIPSOM (National Institute of Population Studies) effectively non-existent — which previously produced cross-census population series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investment survey methodology: pro-forma sent to firms → filled and returned → no cross-check with SBP credit data, SECP filings, or utility connections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5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Diagnosis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30632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Without Transformation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02920"/>
            <a:ext cx="64008" cy="42062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7548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Quality: What Is This Recovery Actually Built On?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5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OF CURRENT GROWTH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4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Import-compression recovery — inflation fell from 38% peak via demand destruction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supercycle reversal — global input prices fell, reducing Pakistan's import bill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IMF-mandated austerity — restored external buffers but at real income cost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Remittances: 9.4% of GDP — structural crutch, not dividend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6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 bounce vs. structural transformation — same distinction applies here as to last year's 'stabilisation' achievements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663440" y="1234440"/>
            <a:ext cx="36576" cy="329184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0" y="1234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Lens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691640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5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STILL MISSING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4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investment in productive capacity (LSM investment is negative)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diversification — textiles still 60% of merchandise exports, stuck at $30–32B range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Job-creating growth — apparel, auto assembly, and cement do not absorb 3–4M new entrants/year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FDI confidence — fresh flows under $500M; ECI rank fell 20 places in a decade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sector resolution — CD stock PKR 2,842B; electricity contraction of −13.53% in Q3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02920"/>
            <a:ext cx="64008" cy="42062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7548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Boom-Bust Cycle — Pakistan's 25th IMF Program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81381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Pakistan's current growth must be understood within its recurring macroeconomic cycle: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Import-driven boom  →  ② Balance of Payments crisis  →  ③ IMF bailout &amp; austerity  →  ④ Brief stabilisation  →  ⑤ Short growth recovery  →  ⑥ Cycle repeats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 from the expert: four years into this government, growth momentum has NOT resumed at the rate seen in comparable late-tenure periods of previous governments (PMLN, PTI)</a:t>
            </a:r>
            <a:endParaRPr lang="en-US" sz="1600" dirty="0"/>
          </a:p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drag: private investment still not entering double-digit growth despite falling interest rates (SBP cut 1,100 bps since June 2025, policy rate now at 12%)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IMF PROGRAM — EFF 37-month (2024):</a:t>
            </a:r>
            <a:endParaRPr lang="en-US" sz="1600" dirty="0"/>
          </a:p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 than prior programs — now includes governance conditionalities in addition to macroeconomic targets</a:t>
            </a:r>
            <a:endParaRPr lang="en-US" sz="1600" dirty="0"/>
          </a:p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500" dirty="0">
                <a:solidFill>
                  <a:srgbClr val="B8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reform, tax base broadening: on IMF agenda since 2008 — never structurally resolved in 25 programs</a:t>
            </a:r>
            <a:endParaRPr lang="en-US" sz="1600" dirty="0"/>
          </a:p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East conflict adds uncertainty to Q4 extrapolation and next budget horizon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02920"/>
            <a:ext cx="64008" cy="42062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7548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Ahead: Revisions &amp; Budget FY26-27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5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REVISIONS TO CURRENT NUMBERS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4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is provisional — full-year October revision likely to adjust: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services growth downward (when actual spending replaces budgeted estimates)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investment once material-based cross-checks applied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quarter extrapolation may shift with higher deflators — Q4 inflation likely 14–15%, creating a larger real-nominal gap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400" b="1" dirty="0">
                <a:solidFill>
                  <a:srgbClr val="B8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estimate: full-year growth likely ~3.4–3.7% after revision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663440" y="1234440"/>
            <a:ext cx="36576" cy="329184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0" y="1234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Forecast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691640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5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BUDGET OUTLOOK (Expected June 5, 2026)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4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with IMF ongoing — governance conditionalities reduce Pakistan's bargaining room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 measures constrained by survival-mode fiscal space and external uncertainty (Middle East)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revival through demand stimulus not expected — IMF program dominates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structural asks still unmet: energy tariff reform, non-filer elimination, agricultural tax, PSE privatisation</a:t>
            </a:r>
            <a:endParaRPr lang="en-US" sz="1500" dirty="0"/>
          </a:p>
          <a:p>
            <a:pPr marL="101600" indent="-101600">
              <a:spcAft>
                <a:spcPts val="500"/>
              </a:spcAft>
              <a:buSzPct val="100000"/>
              <a:buChar char="■"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structural reform, next bust is a question of WHEN — not WHETHER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02920"/>
            <a:ext cx="64008" cy="42062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7548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for This Lecture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81381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5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HEADLINE vs. QUALITY — 4.0% Q3 growth is within the SBP band but reflects cyclical recovery and a lopsided sectoral composition (assembly-driven LSM, fragile agriculture), not structural transformation.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500" b="1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INVESTMENT PUZZLE — Private investment data appears overstated relative to observable market activity; cross-checks with SBP credit and material production data raise methodology questions.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5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INSTITUTIONS MATTER — Vacant PBS posts, defunct NIPSOM, unlinked investment surveys: data quality is a governance failure, not just a technical one.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500" b="1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GROWTH WITHOUT JOBS — A Lewis transformation requires industry to absorb agricultural surplus labour; LSM growth in autos and apparel assembly does not fulfil this role.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WINDOW IS CLOSING — Falling inflation, rebuilt reserves, and IMF programme provide a rare reform window; structural inaction means the 26th IMF programme is already being scheduled.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02920"/>
            <a:ext cx="64008" cy="42062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7548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Reflection Questions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81381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questions are relevant to your mid-term and final examination: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Why does GDP growth of 4% feel inconsistent with lived economic experience for most Pakistanis? Use the concepts of distributional growth, informal sector exclusion, and employment elasticity.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If private investment is rising (per PBS) but LSM investment is contracting and FDI is negative, what does this tell us about the reliability and coverage of national accounts data?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The Lewis dual-sector model predicts structural transformation when industry absorbs agricultural surplus labour. Why has this mechanism stalled in Pakistan despite persistent GDP growth? What needs to change?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127000" indent="-127000">
              <a:spcAft>
                <a:spcPts val="400"/>
              </a:spcAft>
              <a:buSzPct val="100000"/>
              <a:buChar char="■"/>
            </a:pPr>
            <a:r>
              <a:rPr lang="en-US" sz="1500" dirty="0">
                <a:solidFill>
                  <a:srgbClr val="1E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— Given Pakistan has had 25 IMF programs since 1950, what does this suggest about the relationship between short-run stabilisation and long-run structural reform?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6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Pakistan's 4% Q3 growth is real but fragile — built on demand recovery, not productive transformation. Statistical integrity questions around investment data, institutional capacity gaps at PBS, and the absence of job-creating, export-oriented industrial growth mean the macroeconomic calm is a window, not a destination.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economy critically — not just accepting official numbers — is the first responsibility of an economist.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Zahid Asghar  ·  School of Economics, QAU  ·  Spring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Pakistan GDP Q3 FY2025-26 — Lecture Slides</dc:title>
  <dc:subject>PptxGenJS Presentation</dc:subject>
  <dc:creator>PptxGenJS</dc:creator>
  <cp:lastModifiedBy>PptxGenJS</cp:lastModifiedBy>
  <cp:revision>1</cp:revision>
  <dcterms:created xsi:type="dcterms:W3CDTF">2026-05-19T06:11:45Z</dcterms:created>
  <dcterms:modified xsi:type="dcterms:W3CDTF">2026-05-19T06:11:45Z</dcterms:modified>
</cp:coreProperties>
</file>