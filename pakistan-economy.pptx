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114" y="895350"/>
            <a:ext cx="731577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Pakistan's Economic Crisis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628294" y="3067050"/>
            <a:ext cx="3887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&amp; Internal Economy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81896" y="3943350"/>
            <a:ext cx="13802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Critical Analysis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4430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Crisis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385888"/>
            <a:ext cx="3952875" cy="1790700"/>
          </a:xfrm>
          <a:prstGeom prst="roundRect">
            <a:avLst>
              <a:gd name="adj" fmla="val 3404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652588"/>
            <a:ext cx="3565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BELOW POVERTY 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6725" y="1881187"/>
            <a:ext cx="3565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66725" y="2643188"/>
            <a:ext cx="3565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million people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8125" y="3328988"/>
            <a:ext cx="3952875" cy="156210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3595688"/>
            <a:ext cx="3565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THRESHOLD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" y="3824288"/>
            <a:ext cx="3565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6725" y="4357688"/>
            <a:ext cx="3565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day income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95800" y="2041327"/>
            <a:ext cx="4410075" cy="2194322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4400" y="2269927"/>
            <a:ext cx="40319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Impact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4400" y="2765227"/>
            <a:ext cx="403193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half of Pakistan's 250 million citizens struggle to meet basic needs.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4400" y="3481388"/>
            <a:ext cx="403193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poverty rate represents one of the highest levels in South Asia.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8125" y="4752975"/>
            <a:ext cx="1034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Bank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65093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of Purchasing Power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133475"/>
            <a:ext cx="4181475" cy="1752600"/>
          </a:xfrm>
          <a:prstGeom prst="roundRect">
            <a:avLst>
              <a:gd name="adj" fmla="val 3478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482" y="1400175"/>
            <a:ext cx="3798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INCREASE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29482" y="1647825"/>
            <a:ext cx="3798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29482" y="2428875"/>
            <a:ext cx="37987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2-3 years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4400" y="1133475"/>
            <a:ext cx="4181475" cy="175260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5757" y="1400175"/>
            <a:ext cx="37987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INCREASE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15757" y="1647825"/>
            <a:ext cx="3798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915757" y="2428875"/>
            <a:ext cx="37987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period</a:t>
            </a:r>
            <a:endParaRPr lang="en-US" sz="1050" dirty="0"/>
          </a:p>
        </p:txBody>
      </p:sp>
      <p:pic>
        <p:nvPicPr>
          <p:cNvPr id="11" name="Image 0" descr="/tmp/rasterized-gradient-039054a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3190875"/>
            <a:ext cx="8667750" cy="571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38125" y="3552825"/>
            <a:ext cx="8667750" cy="1085850"/>
          </a:xfrm>
          <a:prstGeom prst="roundRect">
            <a:avLst>
              <a:gd name="adj" fmla="val 561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6725" y="3781425"/>
            <a:ext cx="8374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Devastating Gap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66725" y="4143375"/>
            <a:ext cx="8374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power destroyed by massive inflation-salary mismatch.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5265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Doing Business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404938"/>
            <a:ext cx="3952875" cy="1714500"/>
          </a:xfrm>
          <a:prstGeom prst="roundRect">
            <a:avLst>
              <a:gd name="adj" fmla="val 3556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671638"/>
            <a:ext cx="3565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TAX RATE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6725" y="1900238"/>
            <a:ext cx="3565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55-60%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66725" y="2662238"/>
            <a:ext cx="35655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Super Tax + DDT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8125" y="3271838"/>
            <a:ext cx="3952875" cy="160020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3538538"/>
            <a:ext cx="3565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COST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" y="3767138"/>
            <a:ext cx="35655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22¢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66725" y="4414838"/>
            <a:ext cx="35655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unit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95800" y="2014538"/>
            <a:ext cx="4410075" cy="2247900"/>
          </a:xfrm>
          <a:prstGeom prst="roundRect">
            <a:avLst>
              <a:gd name="adj" fmla="val 271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4400" y="2243138"/>
            <a:ext cx="40319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Comparison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4400" y="2776538"/>
            <a:ext cx="4031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3024188"/>
            <a:ext cx="4031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world's highest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4400" y="3519488"/>
            <a:ext cx="4031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Costs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4400" y="3767138"/>
            <a:ext cx="4031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neighboring countries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7238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"Reverse Robin Hood"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133475"/>
            <a:ext cx="8667750" cy="1188690"/>
          </a:xfrm>
          <a:prstGeom prst="roundRect">
            <a:avLst>
              <a:gd name="adj" fmla="val 5128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362075"/>
            <a:ext cx="83747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Transfer Mechanism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725" y="1781175"/>
            <a:ext cx="837476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Pakistan's economic framework systematically transfers wealth from poor masses to powerful elite groups.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8125" y="2474565"/>
            <a:ext cx="2978200" cy="1943100"/>
          </a:xfrm>
          <a:prstGeom prst="roundRect">
            <a:avLst>
              <a:gd name="adj" fmla="val 313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66700" y="2474565"/>
            <a:ext cx="0" cy="1943100"/>
          </a:xfrm>
          <a:prstGeom prst="line">
            <a:avLst/>
          </a:prstGeom>
          <a:noFill/>
          <a:ln w="571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875" y="2703165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23875" y="3160365"/>
            <a:ext cx="2513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million citizens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875" y="3541365"/>
            <a:ext cx="2513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class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875" y="3922365"/>
            <a:ext cx="2513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8725" y="3126135"/>
            <a:ext cx="251312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84974" y="2474565"/>
            <a:ext cx="2921050" cy="1943100"/>
          </a:xfrm>
          <a:prstGeom prst="roundRect">
            <a:avLst>
              <a:gd name="adj" fmla="val 313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3574" y="2703165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3574" y="3160365"/>
            <a:ext cx="2513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 owners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3574" y="3541365"/>
            <a:ext cx="2513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 mill owners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3574" y="3922365"/>
            <a:ext cx="2513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groups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6713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State-Owned Enterprise Crisis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123950"/>
            <a:ext cx="3952875" cy="17145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390650"/>
            <a:ext cx="3565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INVESTMENT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6725" y="1619250"/>
            <a:ext cx="35655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466725" y="2266950"/>
            <a:ext cx="3565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trillion Rupees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8125" y="2990850"/>
            <a:ext cx="3952875" cy="1828800"/>
          </a:xfrm>
          <a:prstGeom prst="roundRect">
            <a:avLst>
              <a:gd name="adj" fmla="val 3333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" y="3257550"/>
            <a:ext cx="3565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LOSSES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725" y="3486150"/>
            <a:ext cx="3565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6725" y="4248150"/>
            <a:ext cx="35655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 Rupees/year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95800" y="1844129"/>
            <a:ext cx="4410075" cy="2255341"/>
          </a:xfrm>
          <a:prstGeom prst="roundRect">
            <a:avLst>
              <a:gd name="adj" fmla="val 27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4400" y="2072729"/>
            <a:ext cx="40319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Burden on National Exchequer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4400" y="2644229"/>
            <a:ext cx="40319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SOE losses represent massive drain on public resources.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4400" y="3116610"/>
            <a:ext cx="40319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deficit added to national debt burden.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4400" y="3588990"/>
            <a:ext cx="40319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Taxpayers subsidizing inefficient state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7024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Unsustainable Economic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133475"/>
            <a:ext cx="8667750" cy="933450"/>
          </a:xfrm>
          <a:prstGeom prst="roundRect">
            <a:avLst>
              <a:gd name="adj" fmla="val 6531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400175"/>
            <a:ext cx="83747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structure cannot cater to 250 million people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" y="2219325"/>
            <a:ext cx="4181475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8125" y="2219325"/>
            <a:ext cx="4265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8125" y="2676525"/>
            <a:ext cx="426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structural 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8125" y="3057525"/>
            <a:ext cx="426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will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8125" y="3438525"/>
            <a:ext cx="426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expertise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4400" y="2219325"/>
            <a:ext cx="4181475" cy="1485900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400" y="2219325"/>
            <a:ext cx="4265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2676525"/>
            <a:ext cx="426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reform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4400" y="3057525"/>
            <a:ext cx="426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planning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4400" y="3438525"/>
            <a:ext cx="426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capacity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8125" y="3857625"/>
            <a:ext cx="8667750" cy="790575"/>
          </a:xfrm>
          <a:prstGeom prst="roundRect">
            <a:avLst>
              <a:gd name="adj" fmla="val 77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" y="4124325"/>
            <a:ext cx="83747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widens between population needs and economic capacity.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53921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Bright Spots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133475"/>
            <a:ext cx="8667750" cy="1188690"/>
          </a:xfrm>
          <a:prstGeom prst="roundRect">
            <a:avLst>
              <a:gd name="adj" fmla="val 512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362075"/>
            <a:ext cx="83747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FDI Potential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725" y="1781175"/>
            <a:ext cx="837476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challenging overall climate, strong potential exists in strategic sectors.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8125" y="2626965"/>
            <a:ext cx="4257675" cy="1459111"/>
          </a:xfrm>
          <a:prstGeom prst="roundRect">
            <a:avLst>
              <a:gd name="adj" fmla="val 41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66700" y="2626965"/>
            <a:ext cx="0" cy="1459111"/>
          </a:xfrm>
          <a:prstGeom prst="line">
            <a:avLst/>
          </a:prstGeom>
          <a:noFill/>
          <a:ln w="5715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875" y="2855565"/>
            <a:ext cx="3818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Mining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3875" y="3331815"/>
            <a:ext cx="381819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demand driven by electric vehicles and renewable energy infrastructure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8200" y="2626965"/>
            <a:ext cx="4257675" cy="1459111"/>
          </a:xfrm>
          <a:prstGeom prst="roundRect">
            <a:avLst>
              <a:gd name="adj" fmla="val 417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6775" y="2626965"/>
            <a:ext cx="0" cy="1459111"/>
          </a:xfrm>
          <a:prstGeom prst="line">
            <a:avLst/>
          </a:prstGeom>
          <a:noFill/>
          <a:ln w="5715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3950" y="2855565"/>
            <a:ext cx="3818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Earth Elements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3950" y="3331815"/>
            <a:ext cx="381819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zero-emission technologies and advanced electronics manufacturing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33375"/>
            <a:ext cx="75295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Accountability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8125" y="1133475"/>
            <a:ext cx="8667750" cy="1219200"/>
          </a:xfrm>
          <a:prstGeom prst="roundRect">
            <a:avLst>
              <a:gd name="adj" fmla="val 5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" y="1362075"/>
            <a:ext cx="83747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Pressure for Internal Reform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725" y="1781175"/>
            <a:ext cx="83747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forcing government to implement transparency measures that should be internal priorities.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8125" y="2505075"/>
            <a:ext cx="8667750" cy="1478161"/>
          </a:xfrm>
          <a:prstGeom prst="roundRect">
            <a:avLst>
              <a:gd name="adj" fmla="val 41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2733675"/>
            <a:ext cx="83747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Asset Declaration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725" y="3114675"/>
            <a:ext cx="83747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declaration of civil servant assets required by IMF conditions.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725" y="3472755"/>
            <a:ext cx="8374761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 basic transparency should be self-initiated, not externally mandated.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8125" y="4135636"/>
            <a:ext cx="8667750" cy="790575"/>
          </a:xfrm>
          <a:prstGeom prst="roundRect">
            <a:avLst>
              <a:gd name="adj" fmla="val 77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725" y="4402336"/>
            <a:ext cx="83747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dependency for governance reform reveals institutional failures.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9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0487" y="1051620"/>
            <a:ext cx="4923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Forward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7180" y="2270820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reform is not optional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7180" y="2979390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will must match economic necessity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7180" y="3687961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million people await decisive action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2025-12-01T06:12:17Z</dcterms:created>
  <dcterms:modified xsi:type="dcterms:W3CDTF">2025-12-01T06:12:17Z</dcterms:modified>
</cp:coreProperties>
</file>