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9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46454" y="1156395"/>
            <a:ext cx="6451092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950"/>
              </a:lnSpc>
              <a:spcAft>
                <a:spcPts val="1200"/>
              </a:spcAft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Pakistan's Industrial Competitiveness Crisis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1346454" y="2566095"/>
            <a:ext cx="6451092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spcBef>
                <a:spcPts val="300"/>
              </a:spcBef>
              <a:spcAft>
                <a:spcPts val="2400"/>
              </a:spcAft>
              <a:buNone/>
            </a:pPr>
            <a:r>
              <a:rPr lang="en-US" sz="2100" b="1" dirty="0">
                <a:solidFill>
                  <a:srgbClr val="D95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Urgent Warning from Industry Leaders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191000" y="3244155"/>
            <a:ext cx="762000" cy="38100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346454" y="3510855"/>
            <a:ext cx="645109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of Business Recorder Editorial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46454" y="3762226"/>
            <a:ext cx="645109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December 2024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1110258"/>
            <a:ext cx="76200" cy="571500"/>
          </a:xfrm>
          <a:prstGeom prst="rect">
            <a:avLst/>
          </a:prstGeom>
          <a:solidFill>
            <a:srgbClr val="D95F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186458"/>
            <a:ext cx="2572634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Warning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304800" y="2062758"/>
            <a:ext cx="8534400" cy="1125736"/>
          </a:xfrm>
          <a:prstGeom prst="roundRect">
            <a:avLst>
              <a:gd name="adj" fmla="val 3384"/>
            </a:avLst>
          </a:prstGeom>
          <a:solidFill>
            <a:srgbClr val="FEF3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23850" y="2062758"/>
            <a:ext cx="0" cy="1125736"/>
          </a:xfrm>
          <a:prstGeom prst="line">
            <a:avLst/>
          </a:prstGeom>
          <a:noFill/>
          <a:ln w="38100">
            <a:solidFill>
              <a:srgbClr val="D95F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3400" y="2253258"/>
            <a:ext cx="827760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Pakistan Business Council's Urgent Letter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33400" y="2569369"/>
            <a:ext cx="827760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prevailing energy prices, tax burdens, and financing costs, large segments of domestic industry can no longer produce at commercially viable prices.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304800" y="3417094"/>
            <a:ext cx="4191000" cy="806648"/>
          </a:xfrm>
          <a:prstGeom prst="roundRect">
            <a:avLst>
              <a:gd name="adj" fmla="val 472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76250" y="3588544"/>
            <a:ext cx="392506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476250" y="3837980"/>
            <a:ext cx="3925062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rhetoric and official numbers are drifting apart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4648200" y="3417094"/>
            <a:ext cx="4191000" cy="806648"/>
          </a:xfrm>
          <a:prstGeom prst="roundRect">
            <a:avLst>
              <a:gd name="adj" fmla="val 472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19650" y="3588544"/>
            <a:ext cx="392506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REALITY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4819650" y="3837980"/>
            <a:ext cx="3925062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not a plea for incentives—it's an arithmetic problem</a:t>
            </a:r>
            <a:endParaRPr lang="en-US" sz="11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660202"/>
            <a:ext cx="76200" cy="571500"/>
          </a:xfrm>
          <a:prstGeom prst="rect">
            <a:avLst/>
          </a:prstGeom>
          <a:solidFill>
            <a:srgbClr val="D95F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736402"/>
            <a:ext cx="4806136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Arithmetic Problem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304800" y="1574602"/>
            <a:ext cx="8534400" cy="1150441"/>
          </a:xfrm>
          <a:prstGeom prst="roundRect">
            <a:avLst>
              <a:gd name="adj" fmla="val 6624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2628" y="1803202"/>
            <a:ext cx="8238744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Costs &gt; Market Absorption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2628" y="2283172"/>
            <a:ext cx="823874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900"/>
              </a:spcBef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costs exceed what markets can absorb, output contracts regardless of intent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4800" y="2915543"/>
            <a:ext cx="2755850" cy="1062782"/>
          </a:xfrm>
          <a:prstGeom prst="roundRect">
            <a:avLst>
              <a:gd name="adj" fmla="val 3585"/>
            </a:avLst>
          </a:prstGeom>
          <a:solidFill>
            <a:srgbClr val="FFF5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04800" y="2929830"/>
            <a:ext cx="2755850" cy="0"/>
          </a:xfrm>
          <a:prstGeom prst="line">
            <a:avLst/>
          </a:prstGeom>
          <a:noFill/>
          <a:ln w="28575">
            <a:solidFill>
              <a:srgbClr val="D95F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2689" y="3096518"/>
            <a:ext cx="2500071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D95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432689" y="3652689"/>
            <a:ext cx="250007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Prices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3194000" y="2915543"/>
            <a:ext cx="2755850" cy="1062782"/>
          </a:xfrm>
          <a:prstGeom prst="roundRect">
            <a:avLst>
              <a:gd name="adj" fmla="val 3585"/>
            </a:avLst>
          </a:prstGeom>
          <a:solidFill>
            <a:srgbClr val="FFF5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194000" y="2929830"/>
            <a:ext cx="2755850" cy="0"/>
          </a:xfrm>
          <a:prstGeom prst="line">
            <a:avLst/>
          </a:prstGeom>
          <a:noFill/>
          <a:ln w="28575">
            <a:solidFill>
              <a:srgbClr val="D95F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21890" y="3096518"/>
            <a:ext cx="2500071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D95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3321890" y="3652689"/>
            <a:ext cx="250007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 Burdens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6083201" y="2915543"/>
            <a:ext cx="2755999" cy="1062782"/>
          </a:xfrm>
          <a:prstGeom prst="roundRect">
            <a:avLst>
              <a:gd name="adj" fmla="val 3585"/>
            </a:avLst>
          </a:prstGeom>
          <a:solidFill>
            <a:srgbClr val="FFF5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083201" y="2929830"/>
            <a:ext cx="2755999" cy="0"/>
          </a:xfrm>
          <a:prstGeom prst="line">
            <a:avLst/>
          </a:prstGeom>
          <a:noFill/>
          <a:ln w="28575">
            <a:solidFill>
              <a:srgbClr val="D95F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1089" y="3096518"/>
            <a:ext cx="2500223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D95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Costly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6211089" y="3652689"/>
            <a:ext cx="250022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Financing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304800" y="4168825"/>
            <a:ext cx="8534400" cy="504825"/>
          </a:xfrm>
          <a:prstGeom prst="roundRect">
            <a:avLst>
              <a:gd name="adj" fmla="val 7547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74904" y="4321225"/>
            <a:ext cx="83941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Production becomes commercially unviable in both local and export markets</a:t>
            </a:r>
            <a:endParaRPr lang="en-US" sz="11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406003"/>
            <a:ext cx="76200" cy="571500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482203"/>
            <a:ext cx="4638848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Industry's Critical Role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304800" y="1320403"/>
            <a:ext cx="8534400" cy="876300"/>
          </a:xfrm>
          <a:prstGeom prst="roundRect">
            <a:avLst>
              <a:gd name="adj" fmla="val 8696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95300" y="1510903"/>
            <a:ext cx="8316468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"Industry is not a peripheral sector. It is the engine through which growth, foreign exchange, and jobs are generated."</a:t>
            </a:r>
            <a:endParaRPr lang="en-US" sz="1500" dirty="0"/>
          </a:p>
        </p:txBody>
      </p:sp>
      <p:pic>
        <p:nvPicPr>
          <p:cNvPr id="6" name="Image 0" descr="/tmp/rasterized-gradient-153500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2387203"/>
            <a:ext cx="4191000" cy="119419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5300" y="2577703"/>
            <a:ext cx="388620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Engine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95300" y="2840534"/>
            <a:ext cx="38862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Aft>
                <a:spcPts val="45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Generator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95300" y="3217664"/>
            <a:ext cx="38862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Drives GDP expansion and economic development</a:t>
            </a:r>
            <a:endParaRPr lang="en-US" sz="975" dirty="0"/>
          </a:p>
        </p:txBody>
      </p:sp>
      <p:pic>
        <p:nvPicPr>
          <p:cNvPr id="10" name="Image 1" descr="/tmp/rasterized-gradient-29146bb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2387203"/>
            <a:ext cx="4191000" cy="119419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38700" y="2577703"/>
            <a:ext cx="388620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Foreign Exchange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838700" y="2840534"/>
            <a:ext cx="38862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Aft>
                <a:spcPts val="45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Capacity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838700" y="3217664"/>
            <a:ext cx="38862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crucial foreign currency reserves</a:t>
            </a:r>
            <a:endParaRPr lang="en-US" sz="975" dirty="0"/>
          </a:p>
        </p:txBody>
      </p:sp>
      <p:pic>
        <p:nvPicPr>
          <p:cNvPr id="14" name="Image 2" descr="/tmp/rasterized-gradient-bb2d4f7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3733800"/>
            <a:ext cx="4191000" cy="119419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95300" y="3924300"/>
            <a:ext cx="388620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Employment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495300" y="4187130"/>
            <a:ext cx="38862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Aft>
                <a:spcPts val="45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Creation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495300" y="4564261"/>
            <a:ext cx="38862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Provides livelihoods for millions of workers</a:t>
            </a:r>
            <a:endParaRPr lang="en-US" sz="975" dirty="0"/>
          </a:p>
        </p:txBody>
      </p:sp>
      <p:pic>
        <p:nvPicPr>
          <p:cNvPr id="18" name="Image 3" descr="/tmp/rasterized-gradient-6dde760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200" y="3733800"/>
            <a:ext cx="4191000" cy="119419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838700" y="3924300"/>
            <a:ext cx="388620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Fiscal Health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4838700" y="4187130"/>
            <a:ext cx="38862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Aft>
                <a:spcPts val="45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 Revenues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4838700" y="4564261"/>
            <a:ext cx="38862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Contributes to government fiscal capacity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458391"/>
            <a:ext cx="76200" cy="571500"/>
          </a:xfrm>
          <a:prstGeom prst="rect">
            <a:avLst/>
          </a:prstGeom>
          <a:solidFill>
            <a:srgbClr val="D95F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534591"/>
            <a:ext cx="391914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Credibility Gap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304800" y="1372791"/>
            <a:ext cx="4191000" cy="1056977"/>
          </a:xfrm>
          <a:prstGeom prst="roundRect">
            <a:avLst>
              <a:gd name="adj" fmla="val 7209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23850" y="1372791"/>
            <a:ext cx="0" cy="1056977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4350" y="1544241"/>
            <a:ext cx="388620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Claims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14350" y="1788021"/>
            <a:ext cx="388620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Rising investor confidence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14350" y="2085082"/>
            <a:ext cx="38862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450"/>
              </a:spcBef>
              <a:buNone/>
            </a:pPr>
            <a:r>
              <a:rPr lang="en-US" sz="975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Stabilization narrative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648200" y="1372791"/>
            <a:ext cx="4191000" cy="1056977"/>
          </a:xfrm>
          <a:prstGeom prst="roundRect">
            <a:avLst>
              <a:gd name="adj" fmla="val 7209"/>
            </a:avLst>
          </a:prstGeom>
          <a:solidFill>
            <a:srgbClr val="FEF3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667250" y="1372791"/>
            <a:ext cx="0" cy="1056977"/>
          </a:xfrm>
          <a:prstGeom prst="line">
            <a:avLst/>
          </a:prstGeom>
          <a:noFill/>
          <a:ln w="38100">
            <a:solidFill>
              <a:srgbClr val="D95F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57750" y="1544241"/>
            <a:ext cx="388620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D95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Data Shows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57750" y="1788021"/>
            <a:ext cx="388620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 declines across board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857750" y="2085082"/>
            <a:ext cx="38862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450"/>
              </a:spcBef>
              <a:buNone/>
            </a:pPr>
            <a:r>
              <a:rPr lang="en-US" sz="975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Ministry figures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304800" y="2601218"/>
            <a:ext cx="8534400" cy="1668661"/>
          </a:xfrm>
          <a:prstGeom prst="roundRect">
            <a:avLst>
              <a:gd name="adj" fmla="val 4567"/>
            </a:avLst>
          </a:prstGeom>
          <a:solidFill>
            <a:srgbClr val="FAFAFA"/>
          </a:solidFill>
          <a:ln w="9525">
            <a:solidFill>
              <a:srgbClr val="E5E5E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04825" y="2801243"/>
            <a:ext cx="829703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1200"/>
              </a:spcAft>
              <a:buNone/>
            </a:pPr>
            <a:r>
              <a:rPr lang="en-US" sz="10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STATISTICS (JULY-OCTOBER)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4825" y="3140273"/>
            <a:ext cx="2622500" cy="929580"/>
          </a:xfrm>
          <a:prstGeom prst="roundRect">
            <a:avLst>
              <a:gd name="adj" fmla="val 61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34048" y="3292673"/>
            <a:ext cx="236405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D95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-26%</a:t>
            </a:r>
            <a:endParaRPr lang="en-US" sz="3150" dirty="0"/>
          </a:p>
        </p:txBody>
      </p:sp>
      <p:sp>
        <p:nvSpPr>
          <p:cNvPr id="18" name="Text 16"/>
          <p:cNvSpPr/>
          <p:nvPr/>
        </p:nvSpPr>
        <p:spPr>
          <a:xfrm>
            <a:off x="634048" y="3768923"/>
            <a:ext cx="236405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7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Foreign Direct Investment decline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60675" y="3140273"/>
            <a:ext cx="2622500" cy="929580"/>
          </a:xfrm>
          <a:prstGeom prst="roundRect">
            <a:avLst>
              <a:gd name="adj" fmla="val 61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389898" y="3292673"/>
            <a:ext cx="236405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D95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$540M</a:t>
            </a:r>
            <a:endParaRPr lang="en-US" sz="3150" dirty="0"/>
          </a:p>
        </p:txBody>
      </p:sp>
      <p:sp>
        <p:nvSpPr>
          <p:cNvPr id="21" name="Text 19"/>
          <p:cNvSpPr/>
          <p:nvPr/>
        </p:nvSpPr>
        <p:spPr>
          <a:xfrm>
            <a:off x="3389898" y="3768923"/>
            <a:ext cx="236405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7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investment outflow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016526" y="3140273"/>
            <a:ext cx="2622649" cy="929580"/>
          </a:xfrm>
          <a:prstGeom prst="roundRect">
            <a:avLst>
              <a:gd name="adj" fmla="val 61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145747" y="3292673"/>
            <a:ext cx="236420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D95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-82.5%</a:t>
            </a:r>
            <a:endParaRPr lang="en-US" sz="3150" dirty="0"/>
          </a:p>
        </p:txBody>
      </p:sp>
      <p:sp>
        <p:nvSpPr>
          <p:cNvPr id="24" name="Text 22"/>
          <p:cNvSpPr/>
          <p:nvPr/>
        </p:nvSpPr>
        <p:spPr>
          <a:xfrm>
            <a:off x="6145747" y="3768923"/>
            <a:ext cx="2364206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7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foreign investment drop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04800" y="4422279"/>
            <a:ext cx="8534400" cy="453330"/>
          </a:xfrm>
          <a:prstGeom prst="roundRect">
            <a:avLst>
              <a:gd name="adj" fmla="val 8404"/>
            </a:avLst>
          </a:prstGeom>
          <a:solidFill>
            <a:srgbClr val="FFFB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319088" y="4422279"/>
            <a:ext cx="0" cy="453330"/>
          </a:xfrm>
          <a:prstGeom prst="line">
            <a:avLst/>
          </a:prstGeom>
          <a:noFill/>
          <a:ln w="28575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725" y="4555629"/>
            <a:ext cx="840390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public narratives are contradicted by state data, policy credibility erodes at home and abroad.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309563"/>
            <a:ext cx="76200" cy="571500"/>
          </a:xfrm>
          <a:prstGeom prst="rect">
            <a:avLst/>
          </a:prstGeom>
          <a:solidFill>
            <a:srgbClr val="D95F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385763"/>
            <a:ext cx="6577393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Market ≠ Industrial Reality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304800" y="1223963"/>
            <a:ext cx="8534400" cy="569565"/>
          </a:xfrm>
          <a:prstGeom prst="roundRect">
            <a:avLst>
              <a:gd name="adj" fmla="val 13379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76250" y="1395413"/>
            <a:ext cx="8355330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 rising index does not compensate for declining capacity utilization or weak export volumes."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304800" y="1984028"/>
            <a:ext cx="4171950" cy="2339280"/>
          </a:xfrm>
          <a:prstGeom prst="roundRect">
            <a:avLst>
              <a:gd name="adj" fmla="val 3257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95300" y="2174528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71550" y="2245072"/>
            <a:ext cx="124403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 Markets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95300" y="2669828"/>
            <a:ext cx="386676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They Price: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95300" y="2951708"/>
            <a:ext cx="3790950" cy="11811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Liquidity conditions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Short-term expectations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positioning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 indicators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667250" y="1984028"/>
            <a:ext cx="4171950" cy="2339280"/>
          </a:xfrm>
          <a:prstGeom prst="roundRect">
            <a:avLst>
              <a:gd name="adj" fmla="val 3257"/>
            </a:avLst>
          </a:prstGeom>
          <a:solidFill>
            <a:srgbClr val="FEF3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57750" y="2174528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D95F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334000" y="2245072"/>
            <a:ext cx="77769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Factories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857750" y="2669828"/>
            <a:ext cx="386676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They Price: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57750" y="2951708"/>
            <a:ext cx="3790950" cy="11811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costs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availability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demand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affordability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04800" y="4494758"/>
            <a:ext cx="8534400" cy="529530"/>
          </a:xfrm>
          <a:prstGeom prst="roundRect">
            <a:avLst>
              <a:gd name="adj" fmla="val 10793"/>
            </a:avLst>
          </a:prstGeom>
          <a:solidFill>
            <a:srgbClr val="FFFBEB"/>
          </a:solidFill>
          <a:ln w="19050">
            <a:solidFill>
              <a:srgbClr val="FBBF2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94335" y="4666208"/>
            <a:ext cx="835533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Confusing financial momentum with industrial recovery encourages complacency when adjustment is most urgent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637431"/>
            <a:ext cx="76200" cy="571500"/>
          </a:xfrm>
          <a:prstGeom prst="rect">
            <a:avLst/>
          </a:prstGeom>
          <a:solidFill>
            <a:srgbClr val="D95F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713631"/>
            <a:ext cx="4275883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Structure Crisis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304800" y="1532781"/>
            <a:ext cx="2755850" cy="1133177"/>
          </a:xfrm>
          <a:prstGeom prst="roundRect">
            <a:avLst>
              <a:gd name="adj" fmla="val 6724"/>
            </a:avLst>
          </a:prstGeom>
          <a:solidFill>
            <a:srgbClr val="FEF3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04800" y="1551831"/>
            <a:ext cx="2755850" cy="0"/>
          </a:xfrm>
          <a:prstGeom prst="line">
            <a:avLst/>
          </a:prstGeom>
          <a:noFill/>
          <a:ln w="38100">
            <a:solidFill>
              <a:srgbClr val="D95F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23281"/>
            <a:ext cx="250007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D95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TARIFFS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457200" y="1972717"/>
            <a:ext cx="250007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 above regional benchmarks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2216497"/>
            <a:ext cx="2500071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Layered with surcharges, cross-subsidies, and taxes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194000" y="1532781"/>
            <a:ext cx="2755850" cy="1133177"/>
          </a:xfrm>
          <a:prstGeom prst="roundRect">
            <a:avLst>
              <a:gd name="adj" fmla="val 6724"/>
            </a:avLst>
          </a:prstGeom>
          <a:solidFill>
            <a:srgbClr val="FEF3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194000" y="1551831"/>
            <a:ext cx="2755850" cy="0"/>
          </a:xfrm>
          <a:prstGeom prst="line">
            <a:avLst/>
          </a:prstGeom>
          <a:noFill/>
          <a:ln w="38100">
            <a:solidFill>
              <a:srgbClr val="D95F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46400" y="1723281"/>
            <a:ext cx="250007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D95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FINANCING COSTS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3346400" y="1972717"/>
            <a:ext cx="250007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relative to competitors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346400" y="2216497"/>
            <a:ext cx="2500071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Misaligned with production cycles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083201" y="1532781"/>
            <a:ext cx="2755999" cy="1133177"/>
          </a:xfrm>
          <a:prstGeom prst="roundRect">
            <a:avLst>
              <a:gd name="adj" fmla="val 6724"/>
            </a:avLst>
          </a:prstGeom>
          <a:solidFill>
            <a:srgbClr val="FEF3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083201" y="1551831"/>
            <a:ext cx="2755999" cy="0"/>
          </a:xfrm>
          <a:prstGeom prst="line">
            <a:avLst/>
          </a:prstGeom>
          <a:noFill/>
          <a:ln w="38100">
            <a:solidFill>
              <a:srgbClr val="D95F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35601" y="1723281"/>
            <a:ext cx="250022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D95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BURDENS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6235601" y="1972717"/>
            <a:ext cx="250022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friction without gains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35601" y="2216497"/>
            <a:ext cx="2500223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productivity improvements delivered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04800" y="2818358"/>
            <a:ext cx="8534400" cy="771525"/>
          </a:xfrm>
          <a:prstGeom prst="roundRect">
            <a:avLst>
              <a:gd name="adj" fmla="val 9877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76250" y="2989808"/>
            <a:ext cx="835533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Policy Approach: Prioritizing short-term fiscal extraction over competitiveness, using energy pricing as a revenue tool rather than treating it as a production input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304800" y="3742283"/>
            <a:ext cx="8534400" cy="954286"/>
          </a:xfrm>
          <a:prstGeom prst="roundRect">
            <a:avLst>
              <a:gd name="adj" fmla="val 5989"/>
            </a:avLst>
          </a:prstGeom>
          <a:solidFill>
            <a:srgbClr val="FFFB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323850" y="3742283"/>
            <a:ext cx="0" cy="954286"/>
          </a:xfrm>
          <a:prstGeom prst="line">
            <a:avLst/>
          </a:prstGeom>
          <a:noFill/>
          <a:ln w="381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5300" y="3894683"/>
            <a:ext cx="835533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CONTRADICTION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495300" y="4144119"/>
            <a:ext cx="835533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of this is disputed within government. Yet policy continues unchanged, prioritizing immediate revenue over long-term industrial viability.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686098"/>
            <a:ext cx="76200" cy="571500"/>
          </a:xfrm>
          <a:prstGeom prst="rect">
            <a:avLst/>
          </a:prstGeom>
          <a:solidFill>
            <a:srgbClr val="D95F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762298"/>
            <a:ext cx="5059954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Multiplier in Reverse</a:t>
            </a:r>
            <a:endParaRPr lang="en-US" sz="3300" dirty="0"/>
          </a:p>
        </p:txBody>
      </p:sp>
      <p:pic>
        <p:nvPicPr>
          <p:cNvPr id="4" name="Image 0" descr="/tmp/rasterized-gradient-64b1135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581448"/>
            <a:ext cx="8534400" cy="4667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38150" y="1714798"/>
            <a:ext cx="843305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margins are crushed, the damage spreads quickly and predictably</a:t>
            </a:r>
            <a:endParaRPr lang="en-US" sz="1125" dirty="0"/>
          </a:p>
        </p:txBody>
      </p:sp>
      <p:sp>
        <p:nvSpPr>
          <p:cNvPr id="6" name="Text 3"/>
          <p:cNvSpPr/>
          <p:nvPr/>
        </p:nvSpPr>
        <p:spPr>
          <a:xfrm>
            <a:off x="304800" y="2230041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D95F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17463" y="2282428"/>
            <a:ext cx="810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25" dirty="0"/>
          </a:p>
        </p:txBody>
      </p:sp>
      <p:sp>
        <p:nvSpPr>
          <p:cNvPr id="8" name="Text 5"/>
          <p:cNvSpPr/>
          <p:nvPr/>
        </p:nvSpPr>
        <p:spPr>
          <a:xfrm>
            <a:off x="685800" y="2181523"/>
            <a:ext cx="8153400" cy="401836"/>
          </a:xfrm>
          <a:prstGeom prst="roundRect">
            <a:avLst>
              <a:gd name="adj" fmla="val 14222"/>
            </a:avLst>
          </a:prstGeom>
          <a:solidFill>
            <a:srgbClr val="FEF3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800100" y="2295823"/>
            <a:ext cx="808329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Slows → Factories reduce output due to unviable margins</a:t>
            </a:r>
            <a:endParaRPr lang="en-US" sz="975" dirty="0"/>
          </a:p>
        </p:txBody>
      </p:sp>
      <p:sp>
        <p:nvSpPr>
          <p:cNvPr id="10" name="Text 7"/>
          <p:cNvSpPr/>
          <p:nvPr/>
        </p:nvSpPr>
        <p:spPr>
          <a:xfrm>
            <a:off x="304800" y="2746177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D95F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17463" y="2798564"/>
            <a:ext cx="810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25" dirty="0"/>
          </a:p>
        </p:txBody>
      </p:sp>
      <p:sp>
        <p:nvSpPr>
          <p:cNvPr id="12" name="Text 9"/>
          <p:cNvSpPr/>
          <p:nvPr/>
        </p:nvSpPr>
        <p:spPr>
          <a:xfrm>
            <a:off x="685800" y="2697659"/>
            <a:ext cx="8153400" cy="401836"/>
          </a:xfrm>
          <a:prstGeom prst="roundRect">
            <a:avLst>
              <a:gd name="adj" fmla="val 14222"/>
            </a:avLst>
          </a:prstGeom>
          <a:solidFill>
            <a:srgbClr val="FEF3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800100" y="2811959"/>
            <a:ext cx="808329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Employment Weakens → Job losses as manufacturing contracts</a:t>
            </a:r>
            <a:endParaRPr lang="en-US" sz="975" dirty="0"/>
          </a:p>
        </p:txBody>
      </p:sp>
      <p:sp>
        <p:nvSpPr>
          <p:cNvPr id="14" name="Text 11"/>
          <p:cNvSpPr/>
          <p:nvPr/>
        </p:nvSpPr>
        <p:spPr>
          <a:xfrm>
            <a:off x="304800" y="3262313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D95F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17463" y="3314700"/>
            <a:ext cx="810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25" dirty="0"/>
          </a:p>
        </p:txBody>
      </p:sp>
      <p:sp>
        <p:nvSpPr>
          <p:cNvPr id="16" name="Text 13"/>
          <p:cNvSpPr/>
          <p:nvPr/>
        </p:nvSpPr>
        <p:spPr>
          <a:xfrm>
            <a:off x="685800" y="3213795"/>
            <a:ext cx="8153400" cy="401836"/>
          </a:xfrm>
          <a:prstGeom prst="roundRect">
            <a:avLst>
              <a:gd name="adj" fmla="val 14222"/>
            </a:avLst>
          </a:prstGeom>
          <a:solidFill>
            <a:srgbClr val="FEF3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800100" y="3328095"/>
            <a:ext cx="808329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 Receipts Shrink → Lower production means reduced revenues</a:t>
            </a:r>
            <a:endParaRPr lang="en-US" sz="975" dirty="0"/>
          </a:p>
        </p:txBody>
      </p:sp>
      <p:sp>
        <p:nvSpPr>
          <p:cNvPr id="18" name="Text 15"/>
          <p:cNvSpPr/>
          <p:nvPr/>
        </p:nvSpPr>
        <p:spPr>
          <a:xfrm>
            <a:off x="304800" y="3778448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D95F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417463" y="3830836"/>
            <a:ext cx="810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25" dirty="0"/>
          </a:p>
        </p:txBody>
      </p:sp>
      <p:sp>
        <p:nvSpPr>
          <p:cNvPr id="20" name="Text 17"/>
          <p:cNvSpPr/>
          <p:nvPr/>
        </p:nvSpPr>
        <p:spPr>
          <a:xfrm>
            <a:off x="685800" y="3729930"/>
            <a:ext cx="8153400" cy="401836"/>
          </a:xfrm>
          <a:prstGeom prst="roundRect">
            <a:avLst>
              <a:gd name="adj" fmla="val 14222"/>
            </a:avLst>
          </a:prstGeom>
          <a:solidFill>
            <a:srgbClr val="FEF3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800100" y="3844230"/>
            <a:ext cx="808329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Imports Rise → Foreign goods substitute domestic output</a:t>
            </a:r>
            <a:endParaRPr lang="en-US" sz="975" dirty="0"/>
          </a:p>
        </p:txBody>
      </p:sp>
      <p:sp>
        <p:nvSpPr>
          <p:cNvPr id="22" name="Text 19"/>
          <p:cNvSpPr/>
          <p:nvPr/>
        </p:nvSpPr>
        <p:spPr>
          <a:xfrm>
            <a:off x="304800" y="4294584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D95F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17463" y="4346972"/>
            <a:ext cx="810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25" dirty="0"/>
          </a:p>
        </p:txBody>
      </p:sp>
      <p:sp>
        <p:nvSpPr>
          <p:cNvPr id="24" name="Text 21"/>
          <p:cNvSpPr/>
          <p:nvPr/>
        </p:nvSpPr>
        <p:spPr>
          <a:xfrm>
            <a:off x="685800" y="4246066"/>
            <a:ext cx="8153400" cy="401836"/>
          </a:xfrm>
          <a:prstGeom prst="roundRect">
            <a:avLst>
              <a:gd name="adj" fmla="val 14222"/>
            </a:avLst>
          </a:prstGeom>
          <a:solidFill>
            <a:srgbClr val="FEF3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800100" y="4360366"/>
            <a:ext cx="808329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of Payments Pressure → External stability threatened</a:t>
            </a:r>
            <a:endParaRPr lang="en-US" sz="9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506760"/>
            <a:ext cx="76200" cy="571500"/>
          </a:xfrm>
          <a:prstGeom prst="rect">
            <a:avLst/>
          </a:prstGeom>
          <a:solidFill>
            <a:srgbClr val="D95F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582960"/>
            <a:ext cx="5059043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Firms Shut Down...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304800" y="1421160"/>
            <a:ext cx="8534400" cy="607665"/>
          </a:xfrm>
          <a:prstGeom prst="roundRect">
            <a:avLst>
              <a:gd name="adj" fmla="val 12540"/>
            </a:avLst>
          </a:prstGeom>
          <a:solidFill>
            <a:srgbClr val="FEF3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28613" y="1421160"/>
            <a:ext cx="0" cy="607665"/>
          </a:xfrm>
          <a:prstGeom prst="line">
            <a:avLst/>
          </a:prstGeom>
          <a:noFill/>
          <a:ln w="47625">
            <a:solidFill>
              <a:srgbClr val="D95F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2925" y="1611660"/>
            <a:ext cx="8267891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2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Short-term fiscal gains are offset by medium-term losses in output, exports, and revenues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304800" y="2200275"/>
            <a:ext cx="4191000" cy="2034480"/>
          </a:xfrm>
          <a:prstGeom prst="roundRect">
            <a:avLst>
              <a:gd name="adj" fmla="val 3745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76250" y="2371725"/>
            <a:ext cx="392506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THE DAMAGE IS NOT REVERSIBLE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6250" y="2653605"/>
            <a:ext cx="3848100" cy="14097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Skilled labour disperses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chains weaken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share surrendered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Competitors gain permanent advantage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648200" y="2200275"/>
            <a:ext cx="4191000" cy="2034480"/>
          </a:xfrm>
          <a:prstGeom prst="roundRect">
            <a:avLst>
              <a:gd name="adj" fmla="val 3745"/>
            </a:avLst>
          </a:prstGeom>
          <a:solidFill>
            <a:srgbClr val="FFFBEB"/>
          </a:solidFill>
          <a:ln w="19050">
            <a:solidFill>
              <a:srgbClr val="FBBF2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38700" y="2390775"/>
            <a:ext cx="388620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CAPITAL MOVES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38700" y="2672655"/>
            <a:ext cx="38862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does not wait for clarity. It moves to jurisdictions where it already exists.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38700" y="3167955"/>
            <a:ext cx="38862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750"/>
              </a:spcBef>
              <a:buNone/>
            </a:pPr>
            <a:r>
              <a:rPr lang="en-US" sz="975" i="1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Competing economies with lower, more predictable cost regimes</a:t>
            </a:r>
            <a:endParaRPr lang="en-US" sz="975" dirty="0"/>
          </a:p>
        </p:txBody>
      </p:sp>
      <p:pic>
        <p:nvPicPr>
          <p:cNvPr id="14" name="Image 0" descr="/tmp/rasterized-gradient-11e50c5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4387155"/>
            <a:ext cx="8534400" cy="43993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355473" y="4520505"/>
            <a:ext cx="843305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Treating outcomes as temporary stress rather than structural failure risks managed contraction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417909"/>
            <a:ext cx="76200" cy="571500"/>
          </a:xfrm>
          <a:prstGeom prst="rect">
            <a:avLst/>
          </a:prstGeom>
          <a:solidFill>
            <a:srgbClr val="D95F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494109"/>
            <a:ext cx="437030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Consultation Failures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304800" y="1313259"/>
            <a:ext cx="8534400" cy="556171"/>
          </a:xfrm>
          <a:prstGeom prst="roundRect">
            <a:avLst>
              <a:gd name="adj" fmla="val 13701"/>
            </a:avLst>
          </a:prstGeom>
          <a:solidFill>
            <a:srgbClr val="FEF3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23850" y="1313259"/>
            <a:ext cx="0" cy="556171"/>
          </a:xfrm>
          <a:prstGeom prst="line">
            <a:avLst/>
          </a:prstGeom>
          <a:noFill/>
          <a:ln w="38100">
            <a:solidFill>
              <a:srgbClr val="D95F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4350" y="1484709"/>
            <a:ext cx="831646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PBC Complaint: Industry input is often sought after decisions are taken, not before costs are imposed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4800" y="2021830"/>
            <a:ext cx="4191000" cy="1329333"/>
          </a:xfrm>
          <a:prstGeom prst="roundRect">
            <a:avLst>
              <a:gd name="adj" fmla="val 5732"/>
            </a:avLst>
          </a:prstGeom>
          <a:solidFill>
            <a:srgbClr val="7F1D1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76250" y="2193280"/>
            <a:ext cx="39250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900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Current Approach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476250" y="2507605"/>
            <a:ext cx="392506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made in isolation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476250" y="2757041"/>
            <a:ext cx="392506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consulted after the fact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476250" y="3006477"/>
            <a:ext cx="392506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Policies revised through exemptions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4648200" y="2021830"/>
            <a:ext cx="4191000" cy="1329333"/>
          </a:xfrm>
          <a:prstGeom prst="roundRect">
            <a:avLst>
              <a:gd name="adj" fmla="val 5732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19650" y="2193280"/>
            <a:ext cx="39250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900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What's Needed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4819650" y="2507605"/>
            <a:ext cx="392506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Meaningful pre-decision consultation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4819650" y="2757041"/>
            <a:ext cx="392506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expertise integrated early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4819650" y="3006477"/>
            <a:ext cx="392506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Stable, predictable policy frameworks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304800" y="3503563"/>
            <a:ext cx="8534400" cy="557213"/>
          </a:xfrm>
          <a:prstGeom prst="roundRect">
            <a:avLst>
              <a:gd name="adj" fmla="val 13675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76250" y="3675013"/>
            <a:ext cx="835533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Policies revised through ad hoc adjustments, deepening uncertainty rather than reducing it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304800" y="4194125"/>
            <a:ext cx="8534400" cy="721816"/>
          </a:xfrm>
          <a:prstGeom prst="roundRect">
            <a:avLst>
              <a:gd name="adj" fmla="val 7918"/>
            </a:avLst>
          </a:prstGeom>
          <a:solidFill>
            <a:srgbClr val="FFFB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319088" y="4194125"/>
            <a:ext cx="0" cy="721816"/>
          </a:xfrm>
          <a:prstGeom prst="line">
            <a:avLst/>
          </a:prstGeom>
          <a:noFill/>
          <a:ln w="28575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5775" y="4346525"/>
            <a:ext cx="836504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INVESTORS INTERPRET THIS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485775" y="4576911"/>
            <a:ext cx="836504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as flexibility, but as unpredictability—a signal to seek more stable policy environments elsewhere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684014"/>
            <a:ext cx="76200" cy="571500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760214"/>
            <a:ext cx="3547068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Way Forward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304800" y="1579364"/>
            <a:ext cx="8534400" cy="518071"/>
          </a:xfrm>
          <a:prstGeom prst="roundRect">
            <a:avLst>
              <a:gd name="adj" fmla="val 14708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1731764"/>
            <a:ext cx="839419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Competing economies have demonstrated industrial viability rests on three fundamentals:</a:t>
            </a:r>
            <a:endParaRPr lang="en-US" sz="1200" dirty="0"/>
          </a:p>
        </p:txBody>
      </p:sp>
      <p:pic>
        <p:nvPicPr>
          <p:cNvPr id="6" name="Image 0" descr="/tmp/rasterized-gradient-3abc91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2268885"/>
            <a:ext cx="2755850" cy="11446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76250" y="2173635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D95F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86234" y="2219325"/>
            <a:ext cx="8652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76250" y="2592735"/>
            <a:ext cx="2461209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5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Affordable &amp; Reliable Energy</a:t>
            </a:r>
            <a:endParaRPr lang="en-US" sz="1275" dirty="0"/>
          </a:p>
        </p:txBody>
      </p:sp>
      <p:sp>
        <p:nvSpPr>
          <p:cNvPr id="10" name="Text 7"/>
          <p:cNvSpPr/>
          <p:nvPr/>
        </p:nvSpPr>
        <p:spPr>
          <a:xfrm>
            <a:off x="476250" y="2895600"/>
            <a:ext cx="2461209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pricing aligned with regional benchmarks</a:t>
            </a:r>
            <a:endParaRPr lang="en-US" sz="975" dirty="0"/>
          </a:p>
        </p:txBody>
      </p:sp>
      <p:pic>
        <p:nvPicPr>
          <p:cNvPr id="11" name="Image 1" descr="/tmp/rasterized-gradient-2bd047a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4000" y="2268885"/>
            <a:ext cx="2755850" cy="114463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65450" y="2173635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D95F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3475434" y="2219325"/>
            <a:ext cx="8652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365450" y="2592735"/>
            <a:ext cx="2461209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5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Predictable Taxation</a:t>
            </a:r>
            <a:endParaRPr lang="en-US" sz="1275" dirty="0"/>
          </a:p>
        </p:txBody>
      </p:sp>
      <p:sp>
        <p:nvSpPr>
          <p:cNvPr id="15" name="Text 11"/>
          <p:cNvSpPr/>
          <p:nvPr/>
        </p:nvSpPr>
        <p:spPr>
          <a:xfrm>
            <a:off x="3365450" y="2895600"/>
            <a:ext cx="2461209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policy frameworks without ad hoc changes</a:t>
            </a:r>
            <a:endParaRPr lang="en-US" sz="975" dirty="0"/>
          </a:p>
        </p:txBody>
      </p:sp>
      <p:pic>
        <p:nvPicPr>
          <p:cNvPr id="16" name="Image 2" descr="/tmp/rasterized-gradient-bd3983a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3201" y="2268885"/>
            <a:ext cx="2755850" cy="114463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54651" y="2173635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D95F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6364635" y="2219325"/>
            <a:ext cx="8652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254651" y="2592735"/>
            <a:ext cx="2461209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5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Aligned Financing</a:t>
            </a:r>
            <a:endParaRPr lang="en-US" sz="1275" dirty="0"/>
          </a:p>
        </p:txBody>
      </p:sp>
      <p:sp>
        <p:nvSpPr>
          <p:cNvPr id="20" name="Text 15"/>
          <p:cNvSpPr/>
          <p:nvPr/>
        </p:nvSpPr>
        <p:spPr>
          <a:xfrm>
            <a:off x="6254651" y="2895600"/>
            <a:ext cx="246120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costs matched to production cycles</a:t>
            </a:r>
            <a:endParaRPr lang="en-US" sz="975" dirty="0"/>
          </a:p>
        </p:txBody>
      </p:sp>
      <p:sp>
        <p:nvSpPr>
          <p:cNvPr id="21" name="Text 16"/>
          <p:cNvSpPr/>
          <p:nvPr/>
        </p:nvSpPr>
        <p:spPr>
          <a:xfrm>
            <a:off x="304800" y="3546872"/>
            <a:ext cx="8534400" cy="1102965"/>
          </a:xfrm>
          <a:prstGeom prst="roundRect">
            <a:avLst>
              <a:gd name="adj" fmla="val 6909"/>
            </a:avLst>
          </a:prstGeom>
          <a:solidFill>
            <a:srgbClr val="FEF3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17"/>
          <p:cNvSpPr/>
          <p:nvPr/>
        </p:nvSpPr>
        <p:spPr>
          <a:xfrm>
            <a:off x="323850" y="3546872"/>
            <a:ext cx="0" cy="1102965"/>
          </a:xfrm>
          <a:prstGeom prst="line">
            <a:avLst/>
          </a:prstGeom>
          <a:noFill/>
          <a:ln w="38100">
            <a:solidFill>
              <a:srgbClr val="D95F2B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476250" y="3680222"/>
            <a:ext cx="839419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Taking PBC Seriously Means: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476250" y="3916412"/>
            <a:ext cx="8229600" cy="600075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Acknowledging current pricing structures are self-defeating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Rationalizing surcharges and committing to transparent roadmaps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91000" y="684014"/>
            <a:ext cx="762000" cy="38100"/>
          </a:xfrm>
          <a:prstGeom prst="rect">
            <a:avLst/>
          </a:prstGeom>
          <a:solidFill>
            <a:srgbClr val="D95F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730913" y="950714"/>
            <a:ext cx="3682174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spcAft>
                <a:spcPts val="1800"/>
              </a:spcAft>
              <a:buNone/>
            </a:pPr>
            <a:r>
              <a:rPr lang="en-US" sz="3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Bottom Line</a:t>
            </a:r>
            <a:endParaRPr lang="en-US" sz="3600" dirty="0"/>
          </a:p>
        </p:txBody>
      </p:sp>
      <p:pic>
        <p:nvPicPr>
          <p:cNvPr id="4" name="Image 0" descr="/tmp/rasterized-gradient-d22097c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" y="1727895"/>
            <a:ext cx="7010400" cy="14591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68730" y="1994595"/>
            <a:ext cx="6606540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45"/>
              </a:lnSpc>
              <a:spcAft>
                <a:spcPts val="1200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economy cannot be balanced indefinitely by shrinking activity."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268730" y="2691705"/>
            <a:ext cx="66065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industry out of the market is not discipline. It is attrition.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66800" y="3415605"/>
            <a:ext cx="3429000" cy="1043880"/>
          </a:xfrm>
          <a:prstGeom prst="roundRect">
            <a:avLst>
              <a:gd name="adj" fmla="val 7300"/>
            </a:avLst>
          </a:prstGeom>
          <a:solidFill>
            <a:srgbClr val="FEF3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1085850" y="3415605"/>
            <a:ext cx="0" cy="1043880"/>
          </a:xfrm>
          <a:prstGeom prst="line">
            <a:avLst/>
          </a:prstGeom>
          <a:noFill/>
          <a:ln w="38100">
            <a:solidFill>
              <a:srgbClr val="D95F2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295400" y="3606105"/>
            <a:ext cx="307009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D95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The Warning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295400" y="3868936"/>
            <a:ext cx="307009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attrition continues unchecked, it eventually reaches the state itself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648200" y="3415605"/>
            <a:ext cx="3429000" cy="1043880"/>
          </a:xfrm>
          <a:prstGeom prst="roundRect">
            <a:avLst>
              <a:gd name="adj" fmla="val 7300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4667250" y="3415605"/>
            <a:ext cx="0" cy="1043880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76800" y="3606105"/>
            <a:ext cx="307009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The Solution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876800" y="3868936"/>
            <a:ext cx="307009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competitiveness must become a policy priority, not an afterthought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2025-12-27T09:46:01Z</dcterms:created>
  <dcterms:modified xsi:type="dcterms:W3CDTF">2025-12-27T09:46:01Z</dcterms:modified>
</cp:coreProperties>
</file>